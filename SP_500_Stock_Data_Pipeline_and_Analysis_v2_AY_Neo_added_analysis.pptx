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74" r:id="rId8"/>
    <p:sldId id="275" r:id="rId9"/>
    <p:sldId id="276" r:id="rId10"/>
    <p:sldId id="277" r:id="rId11"/>
    <p:sldId id="278" r:id="rId12"/>
    <p:sldId id="261" r:id="rId13"/>
    <p:sldId id="262" r:id="rId14"/>
    <p:sldId id="279" r:id="rId15"/>
    <p:sldId id="280" r:id="rId16"/>
    <p:sldId id="263" r:id="rId17"/>
    <p:sldId id="266" r:id="rId18"/>
    <p:sldId id="264" r:id="rId19"/>
    <p:sldId id="265" r:id="rId20"/>
    <p:sldId id="273" r:id="rId21"/>
    <p:sldId id="268" r:id="rId22"/>
    <p:sldId id="269" r:id="rId23"/>
    <p:sldId id="272" r:id="rId24"/>
    <p:sldId id="270" r:id="rId25"/>
    <p:sldId id="271" r:id="rId26"/>
    <p:sldId id="26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83"/>
    <p:restoredTop sz="94404" autoAdjust="0"/>
  </p:normalViewPr>
  <p:slideViewPr>
    <p:cSldViewPr snapToGrid="0" snapToObjects="1">
      <p:cViewPr varScale="1">
        <p:scale>
          <a:sx n="74" d="100"/>
          <a:sy n="74" d="100"/>
        </p:scale>
        <p:origin x="59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Closes that differ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57-4E52-AA79-6FC396E739BA}"/>
              </c:ext>
            </c:extLst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57-4E52-AA79-6FC396E739B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A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7 Oct</c:v>
                </c:pt>
                <c:pt idx="1">
                  <c:v>8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057-4E52-AA79-6FC396E739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36D5A-0753-4E31-8CA0-6F3B346F163B}" type="datetimeFigureOut">
              <a:rPr lang="en-SG" smtClean="0"/>
              <a:t>16/10/2026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2A4CE-FA9B-4197-8B40-09C14A2B5F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285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Source integrity asks: are we testing the expected file/population? We recorded the hash, row count, 38 columns and date range.</a:t>
            </a:r>
          </a:p>
          <a:p>
            <a:r>
              <a:rPr lang="en-SG" dirty="0"/>
              <a:t>Temporal consistency example: WAT shares moved from roughly 59 million to roughly 59 billion — about a 1,000× jump. That is why we compare values through time, not only within one row.</a:t>
            </a:r>
          </a:p>
          <a:p>
            <a:r>
              <a:rPr lang="en-SG" dirty="0"/>
              <a:t>Snapshot consistency example: when ranking companies, compare them on one common date such as 2026-10-06, rather than mixing different dates or each company’s historical maximum.</a:t>
            </a:r>
          </a:p>
          <a:p>
            <a:r>
              <a:rPr lang="en-SG" dirty="0"/>
              <a:t>Coverage/population: the dataset had 491 tickers at the first date and 12 later entrants, giving 503 at the latest date. A later entrant is not automatically missing/bad data.</a:t>
            </a:r>
          </a:p>
          <a:p>
            <a:r>
              <a:rPr lang="en-SG" dirty="0"/>
              <a:t>Referential integrity in simple terms: every ticker appearing in the daily-price fact table must have a matching ticker master record in dim_ticker. We found zero missing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D5D41-7485-425A-920A-F8C7325CC633}" type="slidenum">
              <a:rPr lang="en-SG" smtClean="0"/>
              <a:t>6</a:t>
            </a:fld>
            <a:endParaRPr lang="en-S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is the audit trail. For every test, the ZIP contains the SQL used and the corresponding CSV output.</a:t>
            </a:r>
          </a:p>
          <a:p>
            <a:r>
              <a:rPr lang="en-SG" dirty="0"/>
              <a:t>PASS means an objective rule had no violations. REVIEW means the test found something requiring interpretation; it does not automatically mean every flagged row is wrong.</a:t>
            </a:r>
          </a:p>
          <a:p>
            <a:r>
              <a:rPr lang="en-SG" dirty="0"/>
              <a:t>The important REVIEW areas are then explained on the following exception slides rather than crowding this matrix.</a:t>
            </a:r>
          </a:p>
          <a:p>
            <a:r>
              <a:rPr lang="en-SG" dirty="0"/>
              <a:t>No need to show the full SQL on-screen during the presentation; the file names let the marker trace the evidence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D5D41-7485-425A-920A-F8C7325CC633}" type="slidenum">
              <a:rPr lang="en-SG" smtClean="0"/>
              <a:t>7</a:t>
            </a:fld>
            <a:endParaRPr lang="en-SG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These are the clearest anomalies worth discussing. I would not list every detailed row on the slide.</a:t>
            </a:r>
            <a:endParaRPr lang="en-SG"/>
          </a:p>
          <a:p>
            <a:r>
              <a:rPr lang="en-SG" dirty="0"/>
              <a:t>WAT: approximately 59 million shares appeared as approximately 59 billion, creating an implausible market capitalisation above $10 trillion.</a:t>
            </a:r>
            <a:endParaRPr lang="en-SG"/>
          </a:p>
          <a:p>
            <a:r>
              <a:rPr lang="en-SG" dirty="0"/>
              <a:t>MCD: share count temporarily appeared in the hundreds rather than hundreds of millions, then reverted.</a:t>
            </a:r>
            <a:endParaRPr lang="en-SG"/>
          </a:p>
          <a:p>
            <a:r>
              <a:rPr lang="en-SG" dirty="0"/>
              <a:t>HAL and BE: extreme period-to-period EPS movements triggered the temporal controls.</a:t>
            </a:r>
            <a:endParaRPr lang="en-SG"/>
          </a:p>
          <a:p>
            <a:r>
              <a:rPr lang="en-SG" dirty="0"/>
              <a:t>The six event counts on the right add to 93. They are anomaly EVENTS across 12 tickers, not 93 unique companies and not necessarily 93 independent source errors.</a:t>
            </a:r>
            <a:endParaRPr lang="en-SG"/>
          </a:p>
          <a:p>
            <a:r>
              <a:rPr lang="en-SG" dirty="0"/>
              <a:t>The detailed rows are retained in 05_share_count_exceptions.csv, 06_financial_outlier_exceptions.csv and 07_temporal_exceptions.csv.</a:t>
            </a:r>
            <a:endParaRPr lang="en-SG"/>
          </a:p>
          <a:p>
            <a:r>
              <a:rPr lang="en-SG" dirty="0"/>
              <a:t>Key lesson: a market-cap reconciliation can still pass when both market cap and shares carry the same scale error. That is why independent temporal/reasonableness tests were necessary.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D5D41-7485-425A-920A-F8C7325CC633}" type="slidenum">
              <a:rPr lang="en-SG" smtClean="0"/>
              <a:t>8</a:t>
            </a:fld>
            <a:endParaRPr lang="en-S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491 + 12 = 503 means: 491 tickers were already present from the first observation date; another 12 entered later; therefore 503 are present on the latest date.</a:t>
            </a:r>
            <a:endParaRPr lang="en-SG"/>
          </a:p>
          <a:p>
            <a:r>
              <a:rPr lang="en-SG" dirty="0"/>
              <a:t>This is not the same as a data-quality failure. The composition of the S&amp;P 500 changes over time.</a:t>
            </a:r>
            <a:endParaRPr lang="en-SG"/>
          </a:p>
          <a:p>
            <a:r>
              <a:rPr lang="en-SG" dirty="0"/>
              <a:t>The risk is analytical: if we compare one company on one date with another company on a different date, or treat later entrants as missing data, the conclusion can be misleading.</a:t>
            </a:r>
            <a:endParaRPr lang="en-SG"/>
          </a:p>
          <a:p>
            <a:r>
              <a:rPr lang="en-SG" dirty="0"/>
              <a:t>The control rule is simple: use one common snapshot date for cross-sectional rankings, or deliberately define a fixed cohort.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D5D41-7485-425A-920A-F8C7325CC633}" type="slidenum">
              <a:rPr lang="en-SG" smtClean="0"/>
              <a:t>9</a:t>
            </a:fld>
            <a:endParaRPr lang="en-SG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slide validates the ELT rather than claiming the raw source became error-free.</a:t>
            </a:r>
          </a:p>
          <a:p>
            <a:r>
              <a:rPr lang="en-SG" dirty="0"/>
              <a:t>We compared public_proj2_sp500 with fact_dailyprice: both had 622,689 rows, 503 tickers, the same date range, zero source keys lost and zero unexpected fact keys.</a:t>
            </a:r>
          </a:p>
          <a:p>
            <a:r>
              <a:rPr lang="en-SG" dirty="0"/>
              <a:t>Referential integrity also passed: zero orphan fact rows and 503 unique dimension tickers.</a:t>
            </a:r>
          </a:p>
          <a:p>
            <a:r>
              <a:rPr lang="en-SG" dirty="0"/>
              <a:t>We independently recalculated SMA 20/50/100/200 and found zero mismatches.</a:t>
            </a:r>
          </a:p>
          <a:p>
            <a:r>
              <a:rPr lang="en-SG" dirty="0"/>
              <a:t>For daily_return, all 622,186 calculable rows matched adjusted-close returns. 622,186 equals 622,689 total rows minus the first observation for each of 503 tickers.</a:t>
            </a:r>
          </a:p>
          <a:p>
            <a:r>
              <a:rPr lang="en-SG" dirty="0"/>
              <a:t>Important: PASS means the transformation preserved the population and calculations correctly. It does not mean the WAT/MCD/HAL/BE source anomalies were automatically cleaned. Those remain exception evidence for ELT/remediation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D5D41-7485-425A-920A-F8C7325CC633}" type="slidenum">
              <a:rPr lang="en-SG" smtClean="0"/>
              <a:t>10</a:t>
            </a:fld>
            <a:endParaRPr lang="en-S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part is making the pipeline run by itself, and stop itself when the data is wrong. I built on our Team 2 download notebook: it already produces all 41 columns in one run. I added retries for Yahoo rate limits, and it now saves Parquet, one file per year: 31 MB instead of 183 MB. Dagster runs it every morning at 6:30 Singapore time, after the US close. Download, then GX gate 0 checks the files, and only if that passes it loads into BigQuery, partitioned by month and clustered by ticker. First run this morning: 622,757 rows, 503 stocks, up to 14 October, in 22 minutes. It writes only to my own project, so it never touches the team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team's tables I run four more gates: the raw load, the schema contract, our team's 14 quality dimensions, and a final check before analysis. They have already paid off. The gates confirmed Waters' market cap was fixed between v1 and v2: 228 rows above 10 trillion dollars went to zero. And on v2, gate 3 stopped the pipeline: 20 rows on 8 October had an opening price outside the day's high-low range, which is impossible. I compared with my own download: on 7 October all 503 closes match exactly; on 8 October 500 of 503 differ. So 8 October was downloaded while the US market was still trading. Only 20 rows looked wrong, but nearly all 503 were wrong. So our analysis ends on 7 October. Next steps: incremental loads, and Docker plus Google Cloud so it runs without my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40080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3" dirty="0">
                <a:solidFill>
                  <a:srgbClr val="5B7083"/>
                </a:solidFill>
              </a:rPr>
              <a:t>Module 2 · S&amp;P 500 pipeline · Team 2</a:t>
            </a:r>
            <a:endParaRPr lang="en-US" sz="1333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733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7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B70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06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400800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33" dirty="0">
                <a:solidFill>
                  <a:srgbClr val="5B7083"/>
                </a:solidFill>
              </a:rPr>
              <a:t>Module 2 · S&amp;P 500 pipeline · Team 2</a:t>
            </a:r>
            <a:endParaRPr lang="en-US" sz="1333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733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7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B708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1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8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4506217"/>
            <a:ext cx="105918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0100" y="4506217"/>
            <a:ext cx="10591800" cy="9525"/>
          </a:xfrm>
          <a:prstGeom prst="rect">
            <a:avLst/>
          </a:prstGeom>
          <a:solidFill>
            <a:srgbClr val="323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01281" y="4768155"/>
            <a:ext cx="9525" cy="1143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100" y="1951732"/>
            <a:ext cx="11391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B4D1"/>
                </a:solidFill>
                <a:latin typeface="Arial"/>
              </a:rPr>
              <a:t>DATA SCIENCE MODULE PROJECT · TEAM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256532"/>
            <a:ext cx="950118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Arial"/>
              </a:rPr>
              <a:t>S&amp;P 500 Stock Data Pipeline &amp;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544192"/>
            <a:ext cx="79057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B0BEC9"/>
                </a:solidFill>
                <a:latin typeface="Arial"/>
              </a:rPr>
              <a:t>End-to-end ELT engineering, automated data quality testing, and market return analytics across 600k+ stock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744342"/>
            <a:ext cx="394785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Arial"/>
              </a:rPr>
              <a:t>Team:</a:t>
            </a:r>
            <a:r>
              <a:rPr sz="1125" b="0" i="0" u="none">
                <a:solidFill>
                  <a:srgbClr val="CBD5E1"/>
                </a:solidFill>
                <a:latin typeface="Arial"/>
              </a:rPr>
              <a:t> Kenny · Angeline · Suhana · Neo · Michael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3706" y="4744342"/>
            <a:ext cx="433833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Arial"/>
              </a:rPr>
              <a:t>Coverage:</a:t>
            </a:r>
            <a:r>
              <a:rPr sz="1125" b="0" i="0" u="none">
                <a:solidFill>
                  <a:srgbClr val="CBD5E1"/>
                </a:solidFill>
                <a:latin typeface="Arial"/>
              </a:rPr>
              <a:t> 622,710 records · 503 Tickers · 2021–2026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12440"/>
            <a:ext cx="5372100" cy="4457700"/>
          </a:xfrm>
          <a:prstGeom prst="roundRect">
            <a:avLst>
              <a:gd name="adj" fmla="val 1489"/>
            </a:avLst>
          </a:prstGeom>
          <a:solidFill>
            <a:srgbClr val="F4F7F9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136252"/>
            <a:ext cx="5372100" cy="4433888"/>
          </a:xfrm>
          <a:prstGeom prst="roundRect">
            <a:avLst>
              <a:gd name="adj" fmla="val 1489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184412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184412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22701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2270137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3882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975" b="1" i="0" u="none" dirty="0">
                <a:solidFill>
                  <a:srgbClr val="4A6572"/>
                </a:solidFill>
                <a:latin typeface="Arial"/>
              </a:rPr>
              <a:t>EXECUTIVE SUMMARY</a:t>
            </a:r>
            <a:endParaRPr sz="975" b="1" i="0" u="none" dirty="0">
              <a:solidFill>
                <a:srgbClr val="4A6572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2698762"/>
            <a:ext cx="4838700" cy="53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sz="1350" b="0" i="0" u="none">
                <a:solidFill>
                  <a:srgbClr val="475569"/>
                </a:solidFill>
                <a:latin typeface="Arial"/>
              </a:rPr>
              <a:t>Extracted 622k+ rows of static S&amp;P 500 daily price and fundamental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82478"/>
            <a:ext cx="4838700" cy="53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sz="1350" b="0" i="0" u="none">
                <a:solidFill>
                  <a:srgbClr val="475569"/>
                </a:solidFill>
                <a:latin typeface="Arial"/>
              </a:rPr>
              <a:t>Loaded from Supabase PostgreSQL to Google BigQuery via Meltano ELT.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066194"/>
            <a:ext cx="4838700" cy="53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sz="1350" b="0" i="0" u="none">
                <a:solidFill>
                  <a:srgbClr val="475569"/>
                </a:solidFill>
                <a:latin typeface="Arial"/>
              </a:rPr>
              <a:t>Transformed into high-performance star schema models using dbt.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698762"/>
            <a:ext cx="4838700" cy="1587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lang="en-SG" sz="1350" b="1" i="0" u="none" dirty="0">
                <a:solidFill>
                  <a:srgbClr val="37474F"/>
                </a:solidFill>
                <a:latin typeface="Arial"/>
              </a:rPr>
              <a:t>Stock-level insight</a:t>
            </a:r>
          </a:p>
          <a:p>
            <a:pPr algn="l">
              <a:lnSpc>
                <a:spcPts val="2092"/>
              </a:lnSpc>
            </a:pPr>
            <a:r>
              <a:rPr sz="1350" b="1" i="0" u="none" dirty="0">
                <a:solidFill>
                  <a:srgbClr val="37474F"/>
                </a:solidFill>
                <a:latin typeface="Arial"/>
              </a:rPr>
              <a:t>AAPL Return Growth:</a:t>
            </a:r>
            <a:r>
              <a:rPr sz="1350" b="0" i="0" u="none" dirty="0">
                <a:solidFill>
                  <a:srgbClr val="37474F"/>
                </a:solidFill>
                <a:latin typeface="Arial"/>
              </a:rPr>
              <a:t> No incremental annual return growth since the 2023–2024 period.</a:t>
            </a:r>
            <a:endParaRPr lang="en-SG" sz="1350" b="0" i="0" u="none" dirty="0">
              <a:solidFill>
                <a:srgbClr val="37474F"/>
              </a:solidFill>
              <a:latin typeface="Arial"/>
            </a:endParaRPr>
          </a:p>
          <a:p>
            <a:pPr>
              <a:lnSpc>
                <a:spcPts val="2092"/>
              </a:lnSpc>
            </a:pPr>
            <a:r>
              <a:rPr lang="en-US" sz="1350" b="1" dirty="0">
                <a:solidFill>
                  <a:srgbClr val="37474F"/>
                </a:solidFill>
                <a:latin typeface="Arial"/>
              </a:rPr>
              <a:t>NVDA Sharpe Ratio:</a:t>
            </a:r>
            <a:r>
              <a:rPr lang="en-US" sz="1350" dirty="0">
                <a:solidFill>
                  <a:srgbClr val="37474F"/>
                </a:solidFill>
                <a:latin typeface="Arial"/>
              </a:rPr>
              <a:t> Exceptional risk-adjusted Sharpe ratio &gt; 1 over 3- and 5-year horizons.</a:t>
            </a:r>
          </a:p>
          <a:p>
            <a:pPr algn="l">
              <a:lnSpc>
                <a:spcPts val="2092"/>
              </a:lnSpc>
            </a:pPr>
            <a:endParaRPr sz="1350" b="0" i="0" u="none" dirty="0">
              <a:solidFill>
                <a:srgbClr val="37474F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24625" y="4542412"/>
            <a:ext cx="4838700" cy="53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sz="1350" b="1" i="0" u="none" dirty="0">
                <a:solidFill>
                  <a:srgbClr val="37474F"/>
                </a:solidFill>
                <a:latin typeface="Arial"/>
              </a:rPr>
              <a:t>Sector Risk-Reward:</a:t>
            </a:r>
            <a:r>
              <a:rPr sz="1350" b="0" i="0" u="none" dirty="0">
                <a:solidFill>
                  <a:srgbClr val="37474F"/>
                </a:solidFill>
                <a:latin typeface="Arial"/>
              </a:rPr>
              <a:t> Tech led in daily return (+0.21%) but exhibited greatest volatility (3.60%).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929793"/>
            <a:ext cx="4838700" cy="1587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92"/>
              </a:lnSpc>
            </a:pPr>
            <a:endParaRPr lang="en-SG" sz="1350" b="1" dirty="0">
              <a:solidFill>
                <a:srgbClr val="37474F"/>
              </a:solidFill>
              <a:latin typeface="Arial"/>
            </a:endParaRPr>
          </a:p>
          <a:p>
            <a:pPr>
              <a:lnSpc>
                <a:spcPts val="2092"/>
              </a:lnSpc>
            </a:pPr>
            <a:r>
              <a:rPr lang="en-US" sz="1350" b="1" dirty="0">
                <a:solidFill>
                  <a:srgbClr val="37474F"/>
                </a:solidFill>
                <a:latin typeface="Arial"/>
              </a:rPr>
              <a:t>Price-profits:</a:t>
            </a:r>
            <a:r>
              <a:rPr lang="en-US" sz="1350" dirty="0">
                <a:solidFill>
                  <a:srgbClr val="37474F"/>
                </a:solidFill>
                <a:latin typeface="Arial"/>
              </a:rPr>
              <a:t> Tech earned its rally (+30% price +32% profits) vs. Financials grew profits without moving price (+1%, +23%)</a:t>
            </a:r>
          </a:p>
          <a:p>
            <a:pPr>
              <a:lnSpc>
                <a:spcPts val="2092"/>
              </a:lnSpc>
            </a:pPr>
            <a:r>
              <a:rPr lang="en-US" sz="1350" b="1" dirty="0">
                <a:solidFill>
                  <a:srgbClr val="37474F"/>
                </a:solidFill>
                <a:latin typeface="Arial"/>
              </a:rPr>
              <a:t>Price momentum</a:t>
            </a:r>
          </a:p>
          <a:p>
            <a:pPr>
              <a:lnSpc>
                <a:spcPts val="2092"/>
              </a:lnSpc>
            </a:pPr>
            <a:r>
              <a:rPr lang="en-US" sz="1350" dirty="0">
                <a:solidFill>
                  <a:srgbClr val="37474F"/>
                </a:solidFill>
                <a:latin typeface="Arial"/>
              </a:rPr>
              <a:t>Price vs. Moving Average to show if stock is on uptrend, (short-term or deeper) pullback, or downtrend.</a:t>
            </a:r>
            <a:endParaRPr sz="1350" b="0" i="0" u="none" dirty="0">
              <a:solidFill>
                <a:srgbClr val="37474F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1125" y="2246324"/>
            <a:ext cx="2917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Arial"/>
              </a:rPr>
              <a:t>Robust ELT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1825" y="2246324"/>
            <a:ext cx="27788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Arial"/>
              </a:rPr>
              <a:t>Core Business Insights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EE73EF-5E97-9E7E-A3E6-2F3090C9F6AE}"/>
              </a:ext>
            </a:extLst>
          </p:cNvPr>
          <p:cNvSpPr txBox="1"/>
          <p:nvPr/>
        </p:nvSpPr>
        <p:spPr>
          <a:xfrm>
            <a:off x="466195" y="668504"/>
            <a:ext cx="1118393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>
                    <a:lumMod val="50000"/>
                  </a:schemeClr>
                </a:solidFill>
              </a:rPr>
              <a:t>Central business question: </a:t>
            </a:r>
            <a:r>
              <a:rPr lang="en-US" sz="2600" b="1" dirty="0"/>
              <a:t>With Data Cleaning techniques, can accurate and precise analysis be performed on free and readily available public data to arrive at useful insights for everyday investors?</a:t>
            </a:r>
            <a:endParaRPr lang="en-SG" sz="2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7110"/>
            <a:ext cx="2600325" cy="2012453"/>
          </a:xfrm>
          <a:prstGeom prst="roundRect">
            <a:avLst>
              <a:gd name="adj" fmla="val 3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837110"/>
            <a:ext cx="2600325" cy="2012453"/>
          </a:xfrm>
          <a:prstGeom prst="roundRect">
            <a:avLst>
              <a:gd name="adj" fmla="val 3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37110"/>
            <a:ext cx="2600325" cy="2012453"/>
          </a:xfrm>
          <a:prstGeom prst="roundRect">
            <a:avLst>
              <a:gd name="adj" fmla="val 3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837110"/>
            <a:ext cx="2600325" cy="2012453"/>
          </a:xfrm>
          <a:prstGeom prst="roundRect">
            <a:avLst>
              <a:gd name="adj" fmla="val 3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3094285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3094285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3094285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0" y="3094285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87" y="3180010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0" y="3180010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3180010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0" y="3180010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INFRASTRUCTURE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E293B"/>
                </a:solidFill>
                <a:latin typeface="Arial"/>
              </a:rPr>
              <a:t>Technical Approach: Tool Selection Rationale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357053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Google BigQuery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3846760"/>
            <a:ext cx="2257425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Serverless scale for 600k+ rows and 38 fields using GCP credits.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57053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Supabase &amp; Meltano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846760"/>
            <a:ext cx="2257425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PostgreSQL staging with automated CLI ELT to cloud warehouse.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57053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dbt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3846760"/>
            <a:ext cx="2257425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Transforms raw tables into star schema with automated test suites.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357053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Python &amp; SQLAlchemy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3846760"/>
            <a:ext cx="2257425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Direct connection to BigQuery for vectorized Pandas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72337" y="1793527"/>
            <a:ext cx="4310062" cy="89535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72337" y="2822227"/>
            <a:ext cx="4310062" cy="89535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272337" y="3850927"/>
            <a:ext cx="4310062" cy="89535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272337" y="4879627"/>
            <a:ext cx="4310062" cy="89535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72337" y="1793527"/>
            <a:ext cx="28575" cy="895350"/>
          </a:xfrm>
          <a:prstGeom prst="rect">
            <a:avLst/>
          </a:prstGeom>
          <a:solidFill>
            <a:srgbClr val="75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72337" y="2822227"/>
            <a:ext cx="28575" cy="895350"/>
          </a:xfrm>
          <a:prstGeom prst="rect">
            <a:avLst/>
          </a:prstGeom>
          <a:solidFill>
            <a:srgbClr val="75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72337" y="3850927"/>
            <a:ext cx="28575" cy="895350"/>
          </a:xfrm>
          <a:prstGeom prst="rect">
            <a:avLst/>
          </a:prstGeom>
          <a:solidFill>
            <a:srgbClr val="75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72337" y="4879627"/>
            <a:ext cx="28575" cy="895350"/>
          </a:xfrm>
          <a:prstGeom prst="rect">
            <a:avLst/>
          </a:prstGeom>
          <a:solidFill>
            <a:srgbClr val="75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50627"/>
            <a:ext cx="6357937" cy="4667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612552"/>
            <a:ext cx="6034087" cy="434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191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END-TO-END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19125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E293B"/>
                </a:solidFill>
                <a:latin typeface="Arial"/>
              </a:rPr>
              <a:t>Data Pipeline Architecture &amp; Execution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2362" y="1926877"/>
            <a:ext cx="47196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Arial"/>
              </a:rPr>
              <a:t>1. Source &amp;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2362" y="2155477"/>
            <a:ext cx="40338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503 S&amp;P 500 tickers, Yahoo Finance prices, SEC EDGAR XBRL.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2362" y="2955577"/>
            <a:ext cx="47196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Arial"/>
              </a:rPr>
              <a:t>2. Staging &amp; Meltano ELT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2362" y="3184177"/>
            <a:ext cx="40338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Loaded to Supabase, piped via tap-postgres to target-bigquery.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2362" y="3984277"/>
            <a:ext cx="47196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Arial"/>
              </a:rPr>
              <a:t>3. Transform &amp; Quality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2362" y="4212877"/>
            <a:ext cx="40338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dbt star schema transformation and automated integrity tests.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2362" y="5012977"/>
            <a:ext cx="47196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Arial"/>
              </a:rPr>
              <a:t>4. Analysis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2362" y="5241577"/>
            <a:ext cx="40338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SQLAlchemy querying directly into Pandas for financial EDA.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340423"/>
            <a:ext cx="10972800" cy="1009650"/>
          </a:xfrm>
          <a:prstGeom prst="roundRect">
            <a:avLst>
              <a:gd name="adj" fmla="val 7547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17551"/>
            <a:ext cx="5372100" cy="1813321"/>
          </a:xfrm>
          <a:prstGeom prst="roundRect">
            <a:avLst>
              <a:gd name="adj" fmla="val 4202"/>
            </a:avLst>
          </a:prstGeom>
          <a:solidFill>
            <a:srgbClr val="FCF5F4"/>
          </a:solidFill>
          <a:ln w="9525">
            <a:solidFill>
              <a:srgbClr val="EB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317551"/>
            <a:ext cx="5372100" cy="1813321"/>
          </a:xfrm>
          <a:prstGeom prst="roundRect">
            <a:avLst>
              <a:gd name="adj" fmla="val 4202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546151"/>
            <a:ext cx="180975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546151"/>
            <a:ext cx="180975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DATA ENGINEERING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E293B"/>
                </a:solidFill>
                <a:latin typeface="Arial"/>
              </a:rPr>
              <a:t>Data Quality Testing &amp; Anomaly 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2536626"/>
            <a:ext cx="6475809" cy="2095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7D3C34"/>
                </a:solidFill>
                <a:latin typeface="Arial"/>
              </a:rPr>
              <a:t>Initial V1 SQL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2841426"/>
            <a:ext cx="50292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6B4742"/>
                </a:solidFill>
                <a:latin typeface="Arial"/>
              </a:rPr>
              <a:t>Waters (WAT): ~1,000× share-count error causing $43T market cap.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3414712"/>
            <a:ext cx="50292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6B4742"/>
                </a:solidFill>
                <a:latin typeface="Arial"/>
              </a:rPr>
              <a:t>McDonald's (MCD) share collapse and Halliburton (HAL) EPS distortions.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536626"/>
            <a:ext cx="5762625" cy="2095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C543B"/>
                </a:solidFill>
                <a:latin typeface="Arial"/>
              </a:rPr>
              <a:t>Cleaned V2 Regression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841426"/>
            <a:ext cx="5762625" cy="2485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365342"/>
                </a:solidFill>
                <a:latin typeface="Arial"/>
              </a:rPr>
              <a:t>Corrected shares × EPS cross-checks against net income.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166169"/>
            <a:ext cx="50292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365342"/>
                </a:solidFill>
                <a:latin typeface="Arial"/>
              </a:rPr>
              <a:t>Zero duplicate records, zero orphan facts, and zero return mismatches.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045" y="4559498"/>
            <a:ext cx="153851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550" b="1" i="0" u="none">
                <a:solidFill>
                  <a:srgbClr val="2F4A61"/>
                </a:solidFill>
                <a:latin typeface="Arial"/>
              </a:rPr>
              <a:t>622,710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045" y="4969073"/>
            <a:ext cx="153851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Arial"/>
              </a:rPr>
              <a:t>Stock-Day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274" y="4559498"/>
            <a:ext cx="1363116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550" b="1" i="0" u="none">
                <a:solidFill>
                  <a:srgbClr val="2F4A61"/>
                </a:solidFill>
                <a:latin typeface="Arial"/>
              </a:rPr>
              <a:t>503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274" y="4969073"/>
            <a:ext cx="136311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Arial"/>
              </a:rPr>
              <a:t>Validated Tickers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6296" y="4559498"/>
            <a:ext cx="1816633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550" b="1" i="0" u="none">
                <a:solidFill>
                  <a:srgbClr val="2C543B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6296" y="4969073"/>
            <a:ext cx="181663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Arial"/>
              </a:rPr>
              <a:t>Duplicate Key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1286" y="4559498"/>
            <a:ext cx="2144241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550" b="1" i="0" u="none">
                <a:solidFill>
                  <a:srgbClr val="2C543B"/>
                </a:solidFill>
                <a:latin typeface="Arial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286" y="4969073"/>
            <a:ext cx="214424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Arial"/>
              </a:rPr>
              <a:t>Daily Return Reconciliation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80467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Aptos Display"/>
              </a:rPr>
              <a:t>Data quality testing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E6B7A"/>
                </a:solidFill>
                <a:latin typeface="Aptos"/>
              </a:rPr>
              <a:t>A layered control set covering source integrity, business rules, analytical consistency, and warehouse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38096"/>
                </a:solidFill>
                <a:latin typeface="Aptos"/>
              </a:rPr>
              <a:t>MODULE 2 ASSIGNMENT • PART 4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0138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S&amp;P 500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01384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440680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1463040"/>
            <a:ext cx="1600200" cy="30175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1517904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ptos"/>
              </a:rPr>
              <a:t>SOURCE &amp; RECORD CONTROLS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956816"/>
            <a:ext cx="164592" cy="164592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920240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Source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11096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File hash, row count, column count, date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313432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2523744"/>
            <a:ext cx="164592" cy="164592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2487168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Schema validity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78024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Dates, numeric prices, integer-like fields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80360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" y="3090672"/>
            <a:ext cx="164592" cy="164592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054096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Completeness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044952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NULLs and blank key fields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47288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60" y="3657600"/>
            <a:ext cx="164592" cy="164592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3621024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Uniqueness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611880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One ticker + date record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014215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2960" y="4224528"/>
            <a:ext cx="164592" cy="164592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4187952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Price validity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178808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OHLC relationships; prices &gt;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581144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60" y="4791456"/>
            <a:ext cx="164592" cy="164592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4754880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Volume validity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745736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Non-negative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148072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960" y="5358384"/>
            <a:ext cx="164592" cy="164592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8992" y="5321808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Cross-field reconciliation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312664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Market cap vs price × shares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1298448"/>
            <a:ext cx="5440680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336792" y="1463040"/>
            <a:ext cx="1600200" cy="301752"/>
          </a:xfrm>
          <a:prstGeom prst="round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91656" y="1517904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ptos"/>
              </a:rPr>
              <a:t>ANALYTICAL &amp; WAREHOUSE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1956816"/>
            <a:ext cx="164592" cy="164592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56832" y="1920240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Financial reasonableness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1911096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Implausible P/E, EPS, shares, market cap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313432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800" y="2523744"/>
            <a:ext cx="164592" cy="164592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56832" y="2487168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Outliers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478024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Extreme values and scale errors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880360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400800" y="3090672"/>
            <a:ext cx="164592" cy="164592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56832" y="3054096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 dirty="0">
                <a:solidFill>
                  <a:srgbClr val="182230"/>
                </a:solidFill>
                <a:latin typeface="Aptos"/>
              </a:rPr>
              <a:t>Temporal consistency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044952"/>
            <a:ext cx="2697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chemeClr val="tx1">
                    <a:lumMod val="50000"/>
                    <a:lumOff val="50000"/>
                  </a:schemeClr>
                </a:solidFill>
              </a:rPr>
              <a:t>Example: WAT shares ~59m → ~59bn (≈1,000×)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447288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400800" y="3657600"/>
            <a:ext cx="164592" cy="164592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56832" y="3621024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Snapshot consistency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611880"/>
            <a:ext cx="2697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chemeClr val="tx1">
                    <a:lumMod val="50000"/>
                    <a:lumOff val="50000"/>
                  </a:schemeClr>
                </a:solidFill>
              </a:rPr>
              <a:t>Example: compare every company on 2026-10-06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014215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400800" y="4224528"/>
            <a:ext cx="164592" cy="164592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56832" y="4187952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Coverage / population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178808"/>
            <a:ext cx="2697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chemeClr val="tx1">
                    <a:lumMod val="50000"/>
                    <a:lumOff val="50000"/>
                  </a:schemeClr>
                </a:solidFill>
              </a:rPr>
              <a:t>491 at start + 12 later entrants = 503 latest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581144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400800" y="4791456"/>
            <a:ext cx="164592" cy="164592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56832" y="4754880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Referential integrity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745736"/>
            <a:ext cx="2697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>
                <a:solidFill>
                  <a:schemeClr val="tx1">
                    <a:lumMod val="50000"/>
                    <a:lumOff val="50000"/>
                  </a:schemeClr>
                </a:solidFill>
              </a:rPr>
              <a:t>Every fact ticker must exist in dim_ticker (0 missing)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5148072"/>
            <a:ext cx="4937760" cy="7315"/>
          </a:xfrm>
          <a:prstGeom prst="rect">
            <a:avLst/>
          </a:prstGeom>
          <a:solidFill>
            <a:srgbClr val="E7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400800" y="5358384"/>
            <a:ext cx="164592" cy="164592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56832" y="5321808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 i="0">
                <a:solidFill>
                  <a:srgbClr val="182230"/>
                </a:solidFill>
                <a:latin typeface="Aptos"/>
              </a:rPr>
              <a:t>Post-ELT validation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312664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Aptos"/>
              </a:rPr>
              <a:t>Source preservation + derived-field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80467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Aptos Display"/>
              </a:rPr>
              <a:t>Test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E6B7A"/>
                </a:solidFill>
                <a:latin typeface="Aptos"/>
              </a:rPr>
              <a:t>Every conclusion is traceable to a SQL script and a corresponding CSV result file in the project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38096"/>
                </a:solidFill>
                <a:latin typeface="Aptos"/>
              </a:rPr>
              <a:t>MODULE 2 ASSIGNMENT • PART 4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0138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S&amp;P 500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01384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11155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11155680" cy="42062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41732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417320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417320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417320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1417320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Result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6768" y="1417320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37943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17922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Baseline / source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17922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Establish control totals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7922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01_baseline.sql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17922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01_baseline.csv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53928" y="1819656"/>
            <a:ext cx="640080" cy="246888"/>
          </a:xfrm>
          <a:prstGeom prst="roundRect">
            <a:avLst/>
          </a:prstGeom>
          <a:solidFill>
            <a:srgbClr val="EAF7F0"/>
          </a:solidFill>
          <a:ln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90503" y="18516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22A06B"/>
                </a:solidFill>
                <a:latin typeface="Aptos"/>
              </a:rPr>
              <a:t>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2176272"/>
            <a:ext cx="11137392" cy="457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22951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22494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Completeness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2" y="22494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Quantify missing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2494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 dirty="0">
                <a:solidFill>
                  <a:srgbClr val="182230"/>
                </a:solidFill>
                <a:latin typeface="Aptos"/>
              </a:rPr>
              <a:t>02_completeness.sql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22494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02_completeness.csv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53928" y="2276856"/>
            <a:ext cx="640080" cy="246888"/>
          </a:xfrm>
          <a:prstGeom prst="round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90503" y="23088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E49B0F"/>
                </a:solidFill>
                <a:latin typeface="Aptos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7523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7066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Uniqueness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0592" y="27066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Prevent duplicate stock-day rows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7066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03_duplicates.sql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27066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03_duplicates_summary.csv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53928" y="2734056"/>
            <a:ext cx="640080" cy="246888"/>
          </a:xfrm>
          <a:prstGeom prst="roundRect">
            <a:avLst/>
          </a:prstGeom>
          <a:solidFill>
            <a:srgbClr val="EAF7F0"/>
          </a:solidFill>
          <a:ln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90503" y="27660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22A06B"/>
                </a:solidFill>
                <a:latin typeface="Aptos"/>
              </a:rPr>
              <a:t>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" y="3090672"/>
            <a:ext cx="11137392" cy="457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32095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31638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Price &amp; volume validity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50592" y="31638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Validate OHLCV business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3163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04_price_business_rules.sql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6368" y="31638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04_price_business_rules.csv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53928" y="3191256"/>
            <a:ext cx="640080" cy="246888"/>
          </a:xfrm>
          <a:prstGeom prst="roundRect">
            <a:avLst/>
          </a:prstGeom>
          <a:solidFill>
            <a:srgbClr val="EAF7F0"/>
          </a:solidFill>
          <a:ln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890503" y="32232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22A06B"/>
                </a:solidFill>
                <a:latin typeface="Aptos"/>
              </a:rP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6667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" y="36210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Cross-field integrity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50592" y="36210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Detect financial scaling inconsistencies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36210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05_financial_integrity.sql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16368" y="36210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05_financial_integrity.csv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853928" y="3648456"/>
            <a:ext cx="640080" cy="246888"/>
          </a:xfrm>
          <a:prstGeom prst="round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90503" y="3680459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E49B0F"/>
                </a:solidFill>
                <a:latin typeface="Aptos"/>
              </a:rPr>
              <a:t>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" y="4005072"/>
            <a:ext cx="11137392" cy="457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41239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40782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Reasonableness / outliers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50592" y="40782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Flag implausible financial values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40782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06_financial_reasonableness.sql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6368" y="40782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06_financial_reasonableness.csv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53928" y="4105656"/>
            <a:ext cx="640080" cy="246888"/>
          </a:xfrm>
          <a:prstGeom prst="round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90503" y="41376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E49B0F"/>
                </a:solidFill>
                <a:latin typeface="Aptos"/>
              </a:rPr>
              <a:t>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45811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" y="45354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Temporal consistency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50592" y="45354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Detect step-change scale errors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45354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07_temporal_consistency.sql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16368" y="45354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07_temporal_consistency.csv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853928" y="4562856"/>
            <a:ext cx="640080" cy="246888"/>
          </a:xfrm>
          <a:prstGeom prst="round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90503" y="45948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E49B0F"/>
                </a:solidFill>
                <a:latin typeface="Aptos"/>
              </a:rPr>
              <a:t>REVIEW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" y="4919472"/>
            <a:ext cx="11137392" cy="457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6928" y="50383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" y="49926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Snapshot / coverage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50592" y="49926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Control date and constituent population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74920" y="49926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08_snapshot_coverage.sql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16368" y="49926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08_snapshot_coverage.csv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853928" y="5020056"/>
            <a:ext cx="640080" cy="246888"/>
          </a:xfrm>
          <a:prstGeom prst="round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890503" y="50520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E49B0F"/>
                </a:solidFill>
                <a:latin typeface="Aptos"/>
              </a:rPr>
              <a:t>REVIEW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54955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" y="54498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82230"/>
                </a:solidFill>
                <a:latin typeface="Aptos"/>
              </a:rPr>
              <a:t>Referential integrity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50592" y="54498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Validate fact-to-dimension keys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74920" y="5449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09_bigquery_referential_integrity.sql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16368" y="54498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bigquery/09_...csv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853928" y="5477256"/>
            <a:ext cx="640080" cy="246888"/>
          </a:xfrm>
          <a:prstGeom prst="roundRect">
            <a:avLst/>
          </a:prstGeom>
          <a:solidFill>
            <a:srgbClr val="EAF7F0"/>
          </a:solidFill>
          <a:ln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890503" y="55092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22A06B"/>
                </a:solidFill>
                <a:latin typeface="Aptos"/>
              </a:rPr>
              <a:t>PASS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5216" y="5833872"/>
            <a:ext cx="10991088" cy="457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" y="5952744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5EFF"/>
                </a:solidFill>
                <a:latin typeface="Aptos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112" y="590702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182230"/>
                </a:solidFill>
                <a:latin typeface="Aptos"/>
              </a:rPr>
              <a:t>Post-ELT validation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50592" y="590702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A"/>
                </a:solidFill>
                <a:latin typeface="Aptos"/>
              </a:rPr>
              <a:t>Reconcile source and derived fields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74920" y="59070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10_post_elt_validation.sql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16368" y="5907024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182230"/>
                </a:solidFill>
                <a:latin typeface="Aptos"/>
              </a:rPr>
              <a:t>bigquery/10_...csv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853928" y="5934456"/>
            <a:ext cx="640080" cy="246888"/>
          </a:xfrm>
          <a:prstGeom prst="roundRect">
            <a:avLst/>
          </a:prstGeom>
          <a:solidFill>
            <a:srgbClr val="EAF7F0"/>
          </a:solidFill>
          <a:ln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890503" y="59664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22A06B"/>
                </a:solidFill>
                <a:latin typeface="Aptos"/>
              </a:rPr>
              <a:t>PASS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126480"/>
            <a:ext cx="10698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/>
              <a:t>Submission pack: SQL scripts ZIP + CSV results ZIP. Each matrix row maps directly to its evidence file in the ZIP.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80467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Aptos Display"/>
              </a:rPr>
              <a:t>Exceptions worth presenting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E6B7A"/>
                </a:solidFill>
                <a:latin typeface="Aptos"/>
              </a:rPr>
              <a:t>The controls exposed material scaling anomalies that simple reconciliation could miss.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38096"/>
                </a:solidFill>
                <a:latin typeface="Aptos"/>
              </a:rPr>
              <a:t>MODULE 2 ASSIGNMENT • PART 4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0138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S&amp;P 500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01384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4008" cy="13716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0B1F3A"/>
                </a:solidFill>
                <a:latin typeface="Aptos"/>
              </a:rPr>
              <a:t>WAT • Waters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64545"/>
                </a:solidFill>
                <a:latin typeface="Aptos"/>
              </a:rPr>
              <a:t>~1,000× share-count scale anomaly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5E6B7A"/>
                </a:solidFill>
                <a:latin typeface="Aptos"/>
              </a:rPr>
              <a:t>~59m shares appeared as ~59bn, creating an implausible &gt;$10T market cap.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37160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371600"/>
            <a:ext cx="64008" cy="13716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55448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0B1F3A"/>
                </a:solidFill>
                <a:latin typeface="Aptos"/>
              </a:rPr>
              <a:t>MCD • McDonald’s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8470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64545"/>
                </a:solidFill>
                <a:latin typeface="Aptos"/>
              </a:rPr>
              <a:t>Share count collapsed to hundreds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148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5E6B7A"/>
                </a:solidFill>
                <a:latin typeface="Aptos"/>
              </a:rPr>
              <a:t>Hundreds of millions of shares temporarily appeared as hundreds before reverting.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7160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64008" cy="13716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55448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0B1F3A"/>
                </a:solidFill>
                <a:latin typeface="Aptos"/>
              </a:rPr>
              <a:t>HAL • Halliburton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470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64545"/>
                </a:solidFill>
                <a:latin typeface="Aptos"/>
              </a:rPr>
              <a:t>Extreme EPS scaling anomaly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48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5E6B7A"/>
                </a:solidFill>
                <a:latin typeface="Aptos"/>
              </a:rPr>
              <a:t>TTM EPS jumped from ordinary values to an extreme ~100,001.63 level.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371600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371600"/>
            <a:ext cx="64008" cy="1371600"/>
          </a:xfrm>
          <a:prstGeom prst="rect">
            <a:avLst/>
          </a:prstGeom>
          <a:solidFill>
            <a:srgbClr val="E49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554480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0B1F3A"/>
                </a:solidFill>
                <a:latin typeface="Aptos"/>
              </a:rPr>
              <a:t>BE • Bloom Energy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470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49B0F"/>
                </a:solidFill>
                <a:latin typeface="Aptos"/>
              </a:rPr>
              <a:t>Quarterly EPS temporal anomaly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488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5E6B7A"/>
                </a:solidFill>
                <a:latin typeface="Aptos"/>
              </a:rPr>
              <a:t>Diluted EPS exhibited ≥1,000× period-to-period movement requiring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063240"/>
            <a:ext cx="4069080" cy="2542032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364992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EC9FF"/>
                </a:solidFill>
                <a:latin typeface="Aptos"/>
              </a:rPr>
              <a:t>KEY CONTROL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70332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 Display"/>
              </a:rPr>
              <a:t>Two wrong fields can still reconcile.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43400"/>
            <a:ext cx="3337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0" i="0">
                <a:solidFill>
                  <a:srgbClr val="CFD9E6"/>
                </a:solidFill>
                <a:latin typeface="Aptos"/>
              </a:rPr>
              <a:t>A market-cap check alone can pass if market cap and shares outstanding carry the same upstream scale error. Independent temporal and reasonableness tests are therefore essential.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09067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/>
              <a:t>93 temporal anomaly events across 12 tickers — counts below sum to 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358444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9"/>
              <a:t>Share-count jump events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602736"/>
            <a:ext cx="3886200" cy="128016"/>
          </a:xfrm>
          <a:prstGeom prst="round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92240" y="3602736"/>
            <a:ext cx="3736730" cy="128016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61320" y="357530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 dirty="0">
                <a:solidFill>
                  <a:srgbClr val="5E6B7A"/>
                </a:solidFill>
                <a:latin typeface="Aptos"/>
              </a:rP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9319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9"/>
              <a:t>Diluted EPS jump events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950207"/>
            <a:ext cx="3886200" cy="128016"/>
          </a:xfrm>
          <a:prstGeom prst="round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492240" y="3950207"/>
            <a:ext cx="298938" cy="128016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61320" y="392277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5E6B7A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427939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9"/>
              <a:t>TTM EPS jump events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4297679"/>
            <a:ext cx="3886200" cy="128016"/>
          </a:xfrm>
          <a:prstGeom prst="round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92240" y="4297679"/>
            <a:ext cx="298938" cy="128016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61320" y="427024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5E6B7A"/>
                </a:solidFill>
                <a:latin typeface="Apto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462686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9"/>
              <a:t>Revenue/share jump events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4645152"/>
            <a:ext cx="3886200" cy="128016"/>
          </a:xfrm>
          <a:prstGeom prst="round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92240" y="4645152"/>
            <a:ext cx="2989384" cy="128016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61320" y="4617720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5E6B7A"/>
                </a:solidFill>
                <a:latin typeface="Aptos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49743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9"/>
              <a:t>Assets/share jump events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992623"/>
            <a:ext cx="3886200" cy="128016"/>
          </a:xfrm>
          <a:prstGeom prst="round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492240" y="4992623"/>
            <a:ext cx="3886200" cy="128016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561320" y="496519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5E6B7A"/>
                </a:solidFill>
                <a:latin typeface="Aptos"/>
              </a:rPr>
              <a:t>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53218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9"/>
              <a:t>Liabilities/share jump events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5340096"/>
            <a:ext cx="3886200" cy="128016"/>
          </a:xfrm>
          <a:prstGeom prst="roundRect">
            <a:avLst/>
          </a:prstGeom>
          <a:solidFill>
            <a:srgbClr val="E8EDF3"/>
          </a:solidFill>
          <a:ln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92240" y="5340096"/>
            <a:ext cx="2690446" cy="128016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531266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5E6B7A"/>
                </a:solidFill>
                <a:latin typeface="Aptos"/>
              </a:rPr>
              <a:t>18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98480" y="5340096"/>
            <a:ext cx="749808" cy="246888"/>
          </a:xfrm>
          <a:prstGeom prst="roundRect">
            <a:avLst/>
          </a:prstGeom>
          <a:solidFill>
            <a:srgbClr val="FFF5DD"/>
          </a:solidFill>
          <a:ln>
            <a:solidFill>
              <a:srgbClr val="FFF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735055" y="5372100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20" b="1"/>
              <a:t>93 EVENTS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83480" y="5733288"/>
            <a:ext cx="6492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80">
                <a:solidFill>
                  <a:srgbClr val="506078"/>
                </a:solidFill>
              </a:rPr>
              <a:t>Detailed exception rows: 05_share_count_exceptions.csv • 06_financial_outlier_exceptions.csv • 07_temporal_exceptions.csv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80467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S&amp;P 500 membership changed during the five-year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/>
              <a:t>491 of the 503 latest tickers were already present on the first date; 12 entered later. This is a population change, not automatically a data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38096"/>
                </a:solidFill>
                <a:latin typeface="Aptos"/>
              </a:rPr>
              <a:t>MODULE 2 ASSIGNMENT • PART 4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0138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S&amp;P 500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01384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54864" cy="1234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645920"/>
            <a:ext cx="203911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0B1F3A"/>
                </a:solidFill>
                <a:latin typeface="Aptos Display"/>
              </a:rPr>
              <a:t>491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39696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B7A"/>
                </a:solidFill>
                <a:latin typeface="Aptos"/>
              </a:rPr>
              <a:t>securities on first observation date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1801368"/>
            <a:ext cx="960120" cy="530352"/>
          </a:xfrm>
          <a:prstGeom prst="rightArrow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2377440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5EFF"/>
                </a:solidFill>
                <a:latin typeface="Aptos"/>
              </a:rPr>
              <a:t>+12 entrants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81328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1481328"/>
            <a:ext cx="54864" cy="12344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645920"/>
            <a:ext cx="203911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0B1F3A"/>
                </a:solidFill>
                <a:latin typeface="Aptos Display"/>
              </a:rPr>
              <a:t>503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139696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B7A"/>
                </a:solidFill>
                <a:latin typeface="Aptos"/>
              </a:rPr>
              <a:t>securities on latest observation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481328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1481328"/>
            <a:ext cx="54864" cy="12344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1645920"/>
            <a:ext cx="14904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0B1F3A"/>
                </a:solidFill>
                <a:latin typeface="Aptos Display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139696"/>
            <a:ext cx="1490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B7A"/>
                </a:solidFill>
                <a:latin typeface="Aptos"/>
              </a:rPr>
              <a:t>sectors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1481328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64040" y="1481328"/>
            <a:ext cx="54864" cy="123444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6919" y="1645920"/>
            <a:ext cx="14904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0B1F3A"/>
                </a:solidFill>
                <a:latin typeface="Aptos Display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2139696"/>
            <a:ext cx="14904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B7A"/>
                </a:solidFill>
                <a:latin typeface="Aptos"/>
              </a:rPr>
              <a:t>exits before latest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546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4564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How to read 491 + 12 = 503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024884"/>
            <a:ext cx="4617720" cy="1234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019" dirty="0"/>
              <a:t>• 491 tickers are present from the first observation date through the latest date.</a:t>
            </a:r>
          </a:p>
          <a:p>
            <a:r>
              <a:rPr sz="1019" dirty="0"/>
              <a:t>• 12 tickers entered the dataset later, giving 503 on the latest date.</a:t>
            </a:r>
          </a:p>
          <a:p>
            <a:r>
              <a:rPr sz="1019" dirty="0"/>
              <a:t>• For rankings or comparisons, use one common date (or a fixed cohort) so the comparison is fair.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154680"/>
            <a:ext cx="5074920" cy="23317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9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4747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Practical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04164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50" b="1"/>
              <a:t>Same-date snapshot or fixed cohort = fair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617720"/>
            <a:ext cx="4343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/>
              <a:t>A later entrant should not be treated as “missing historical data” simply because it was not in the starting S&amp;P 500 population.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40689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0B1F3A"/>
                </a:solidFill>
                <a:latin typeface="Aptos Display"/>
              </a:rPr>
              <a:t>Post-ELT validation: warehouse transformation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3" y="912113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70" dirty="0"/>
              <a:t>How we checked it: row/ticker counts, ticker-date keys, fact-to-dimension joins, plus independent recalculation of SMA and adjusted-close daily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38096"/>
                </a:solidFill>
                <a:latin typeface="Aptos"/>
              </a:rPr>
              <a:t>MODULE 2 ASSIGNMENT • PART 4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0138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S&amp;P 500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501384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38096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33888" y="411480"/>
            <a:ext cx="658368" cy="246888"/>
          </a:xfrm>
          <a:prstGeom prst="roundRect">
            <a:avLst/>
          </a:prstGeom>
          <a:solidFill>
            <a:srgbClr val="EAF7F0"/>
          </a:solidFill>
          <a:ln>
            <a:solidFill>
              <a:srgbClr val="E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70463" y="443484"/>
            <a:ext cx="5852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22A06B"/>
                </a:solidFill>
                <a:latin typeface="Aptos"/>
              </a:rPr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26060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508760"/>
            <a:ext cx="2606040" cy="73152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169164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B1F3A"/>
                </a:solidFill>
                <a:latin typeface="Aptos"/>
              </a:rPr>
              <a:t>Raw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9933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E6B7A"/>
                </a:solidFill>
                <a:latin typeface="Aptos"/>
              </a:rPr>
              <a:t>public_proj2_sp500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33172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82230"/>
                </a:solidFill>
                <a:latin typeface="Aptos"/>
              </a:rPr>
              <a:t>622,689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31720"/>
            <a:ext cx="1078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182230"/>
                </a:solidFill>
                <a:latin typeface="Aptos"/>
              </a:rPr>
              <a:t>503 tickers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1508760"/>
            <a:ext cx="26060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73168" y="1508760"/>
            <a:ext cx="2606040" cy="7315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56048" y="169164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B1F3A"/>
                </a:solidFill>
                <a:latin typeface="Aptos"/>
              </a:rPr>
              <a:t>Fact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9933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E6B7A"/>
                </a:solidFill>
                <a:latin typeface="Aptos"/>
              </a:rPr>
              <a:t>fact_dailyprice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33172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82230"/>
                </a:solidFill>
                <a:latin typeface="Aptos"/>
              </a:rPr>
              <a:t>622,689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2331720"/>
            <a:ext cx="1078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182230"/>
                </a:solidFill>
                <a:latin typeface="Aptos"/>
              </a:rPr>
              <a:t>503 tickers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1508760"/>
            <a:ext cx="26060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42832" y="1508760"/>
            <a:ext cx="2606040" cy="73152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5711" y="169164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B1F3A"/>
                </a:solidFill>
                <a:latin typeface="Aptos"/>
              </a:rPr>
              <a:t>Dimension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1" y="19933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E6B7A"/>
                </a:solidFill>
                <a:latin typeface="Aptos"/>
              </a:rPr>
              <a:t>dim_ticker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1" y="233172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82230"/>
                </a:solidFill>
                <a:latin typeface="Aptos"/>
              </a:rPr>
              <a:t>503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1" y="2331720"/>
            <a:ext cx="1078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182230"/>
                </a:solidFill>
                <a:latin typeface="Aptos"/>
              </a:rPr>
              <a:t>503 unique tickers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493008" y="1892807"/>
            <a:ext cx="822960" cy="548640"/>
          </a:xfrm>
          <a:prstGeom prst="rightArrow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2736" y="2075688"/>
            <a:ext cx="43891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E5EFF"/>
                </a:solidFill>
                <a:latin typeface="Aptos"/>
              </a:rPr>
              <a:t>ELT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635240" y="1892807"/>
            <a:ext cx="822960" cy="548640"/>
          </a:xfrm>
          <a:prstGeom prst="rightArrow">
            <a:avLst/>
          </a:prstGeom>
          <a:solidFill>
            <a:srgbClr val="E9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44967" y="2075688"/>
            <a:ext cx="43891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FA3B1"/>
                </a:solidFill>
                <a:latin typeface="Aptos"/>
              </a:rPr>
              <a:t>JOIN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401568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" y="353872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2A06B"/>
                </a:solidFill>
                <a:latin typeface="Aptos Display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4248" y="356616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182230"/>
                </a:solidFill>
                <a:latin typeface="Aptos"/>
              </a:rPr>
              <a:t>source keys lost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1688" y="3401568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44568" y="353872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2A06B"/>
                </a:solidFill>
                <a:latin typeface="Aptos Display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8" y="356616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182230"/>
                </a:solidFill>
                <a:latin typeface="Aptos"/>
              </a:rPr>
              <a:t>unexpected fact keys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5008" y="3401568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47888" y="353872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2A06B"/>
                </a:solidFill>
                <a:latin typeface="Aptos Display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356616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182230"/>
                </a:solidFill>
                <a:latin typeface="Aptos"/>
              </a:rPr>
              <a:t>orphan fact rows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361688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7" y="449884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2A06B"/>
                </a:solidFill>
                <a:latin typeface="Aptos Display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4248" y="452628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182230"/>
                </a:solidFill>
                <a:latin typeface="Aptos"/>
              </a:rPr>
              <a:t>duplicate ticker-date rows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61688" y="4361688"/>
            <a:ext cx="3337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44568" y="449884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2A06B"/>
                </a:solidFill>
                <a:latin typeface="Aptos Display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452628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182230"/>
                </a:solidFill>
                <a:latin typeface="Aptos"/>
              </a:rPr>
              <a:t>SMA mismatches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65008" y="4361688"/>
            <a:ext cx="3337560" cy="749808"/>
          </a:xfrm>
          <a:prstGeom prst="roundRect">
            <a:avLst/>
          </a:prstGeom>
          <a:solidFill>
            <a:srgbClr val="E9F8FA"/>
          </a:solidFill>
          <a:ln w="12700">
            <a:solidFill>
              <a:srgbClr val="B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47888" y="449884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A3B1"/>
                </a:solidFill>
                <a:latin typeface="Aptos Display"/>
              </a:rPr>
              <a:t>622,186 / 622,186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90888" y="452628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 i="0">
                <a:solidFill>
                  <a:srgbClr val="182230"/>
                </a:solidFill>
                <a:latin typeface="Aptos"/>
              </a:rPr>
              <a:t>daily returns reconciled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440680"/>
            <a:ext cx="10899648" cy="530352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" y="5568696"/>
            <a:ext cx="10351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30"/>
              <a:t>Conclusion  •  Transformation integrity passed: no keys were lost or added, joins were complete, and derived fields reconciled. PASS here does not mean every upstream source anomaly was cleaned; those exceptions remain separately documented for remediation.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80473" y="1976586"/>
            <a:ext cx="4701926" cy="109716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80473" y="3226147"/>
            <a:ext cx="4701926" cy="109716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80473" y="4475708"/>
            <a:ext cx="4701926" cy="109716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80473" y="1976586"/>
            <a:ext cx="28575" cy="1097160"/>
          </a:xfrm>
          <a:prstGeom prst="rect">
            <a:avLst/>
          </a:prstGeom>
          <a:solidFill>
            <a:srgbClr val="5A7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80473" y="3226147"/>
            <a:ext cx="28575" cy="1097160"/>
          </a:xfrm>
          <a:prstGeom prst="rect">
            <a:avLst/>
          </a:prstGeom>
          <a:solidFill>
            <a:srgbClr val="5A7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80473" y="4475708"/>
            <a:ext cx="28575" cy="1097160"/>
          </a:xfrm>
          <a:prstGeom prst="rect">
            <a:avLst/>
          </a:prstGeom>
          <a:solidFill>
            <a:srgbClr val="487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88727"/>
            <a:ext cx="5966073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650652"/>
            <a:ext cx="5642223" cy="424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191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DATA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9125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E293B"/>
                </a:solidFill>
                <a:latin typeface="Arial"/>
              </a:rPr>
              <a:t>Star Schema Transformation via dbt in BigQuery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498" y="2148036"/>
            <a:ext cx="51115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dim_ticker (Dimension Table)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0498" y="2405211"/>
            <a:ext cx="4425701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Stores ticker, company name, GICS sector, and sub-industry mappings.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0498" y="3397597"/>
            <a:ext cx="51115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fact_dailyprice (Fact Table)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0498" y="3654772"/>
            <a:ext cx="4425701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 dirty="0">
                <a:solidFill>
                  <a:srgbClr val="52616B"/>
                </a:solidFill>
                <a:latin typeface="Arial"/>
              </a:rPr>
              <a:t>Stores daily OHLCV prices, market cap, and valuation multiples.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0498" y="4647158"/>
            <a:ext cx="51115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Derived Technical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0498" y="4904333"/>
            <a:ext cx="4425701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455A4E"/>
                </a:solidFill>
                <a:latin typeface="Arial"/>
              </a:rPr>
              <a:t>Precomputes SMA 20, 50, 100, 200, and adjusted daily return fields.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80473" y="1948011"/>
            <a:ext cx="4701926" cy="1116210"/>
          </a:xfrm>
          <a:prstGeom prst="roundRect">
            <a:avLst>
              <a:gd name="adj" fmla="val 512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80473" y="3216622"/>
            <a:ext cx="4701926" cy="1116210"/>
          </a:xfrm>
          <a:prstGeom prst="roundRect">
            <a:avLst>
              <a:gd name="adj" fmla="val 512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80473" y="4485233"/>
            <a:ext cx="4701926" cy="1116210"/>
          </a:xfrm>
          <a:prstGeom prst="roundRect">
            <a:avLst>
              <a:gd name="adj" fmla="val 512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88727"/>
            <a:ext cx="5966073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650652"/>
            <a:ext cx="5642223" cy="424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191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ANALYTICS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19125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E293B"/>
                </a:solidFill>
                <a:latin typeface="Arial"/>
              </a:rPr>
              <a:t>Querying BigQuery with Python &amp; SQLAlchemy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1448" y="2128986"/>
            <a:ext cx="51305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Secure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1448" y="2386161"/>
            <a:ext cx="4435226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Uses python-dotenv and GCP credentials for programmatic authentication.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1448" y="3397597"/>
            <a:ext cx="51305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Optimized Star Joins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1448" y="3654772"/>
            <a:ext cx="4435226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Joins fact_dailyprice with dim_ticker on ticker symbol efficiently.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1448" y="4666208"/>
            <a:ext cx="51305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Arial"/>
              </a:rPr>
              <a:t>Fast Pandas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1448" y="4923383"/>
            <a:ext cx="4435226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Streams schema-typed data into memory for statistical calculations.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scheduled pipeline that stops itself when data is wrong</a:t>
            </a:r>
            <a:endParaRPr lang="en-US" sz="3200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09600" y="121920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5B7083"/>
                </a:solidFill>
                <a:latin typeface="Calibri"/>
              </a:rPr>
              <a:t>Tue–Sat at 6:30 am SGT, after each US trading day – no manual steps</a:t>
            </a:r>
            <a:endParaRPr lang="en-US" sz="2000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4" name="step-0"/>
          <p:cNvSpPr/>
          <p:nvPr/>
        </p:nvSpPr>
        <p:spPr>
          <a:xfrm>
            <a:off x="609600" y="1950720"/>
            <a:ext cx="2438400" cy="188976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2480" y="213360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92480" y="2133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18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402080" y="2133600"/>
            <a:ext cx="152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B3C49"/>
                </a:solidFill>
                <a:latin typeface="Calibri"/>
              </a:rPr>
              <a:t>Download</a:t>
            </a:r>
            <a:endParaRPr lang="en-US" sz="21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92480" y="2743200"/>
            <a:ext cx="2072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Team 2 notebook</a:t>
            </a: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Wikipedia + Yahoo + SEC</a:t>
            </a: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41 columns, retries</a:t>
            </a:r>
          </a:p>
        </p:txBody>
      </p:sp>
      <p:sp>
        <p:nvSpPr>
          <p:cNvPr id="9" name="Shape 7"/>
          <p:cNvSpPr/>
          <p:nvPr/>
        </p:nvSpPr>
        <p:spPr>
          <a:xfrm>
            <a:off x="3096768" y="2895600"/>
            <a:ext cx="304800" cy="0"/>
          </a:xfrm>
          <a:prstGeom prst="line">
            <a:avLst/>
          </a:prstGeom>
          <a:noFill/>
          <a:ln w="25400">
            <a:solidFill>
              <a:srgbClr val="5B708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0" name="step-1"/>
          <p:cNvSpPr/>
          <p:nvPr/>
        </p:nvSpPr>
        <p:spPr>
          <a:xfrm>
            <a:off x="3450336" y="1950720"/>
            <a:ext cx="2438400" cy="188976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33216" y="213360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33216" y="2133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18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242816" y="2133600"/>
            <a:ext cx="152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B3C49"/>
                </a:solidFill>
                <a:latin typeface="Calibri"/>
              </a:rPr>
              <a:t>Parquet</a:t>
            </a:r>
            <a:endParaRPr lang="en-US" sz="21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633216" y="2743200"/>
            <a:ext cx="2072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One file per year</a:t>
            </a: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31 MB vs 183 MB CSV</a:t>
            </a:r>
          </a:p>
        </p:txBody>
      </p:sp>
      <p:sp>
        <p:nvSpPr>
          <p:cNvPr id="15" name="Shape 13"/>
          <p:cNvSpPr/>
          <p:nvPr/>
        </p:nvSpPr>
        <p:spPr>
          <a:xfrm>
            <a:off x="5937504" y="2895600"/>
            <a:ext cx="304800" cy="0"/>
          </a:xfrm>
          <a:prstGeom prst="line">
            <a:avLst/>
          </a:prstGeom>
          <a:noFill/>
          <a:ln w="25400">
            <a:solidFill>
              <a:srgbClr val="5B708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6" name="step-2"/>
          <p:cNvSpPr/>
          <p:nvPr/>
        </p:nvSpPr>
        <p:spPr>
          <a:xfrm>
            <a:off x="6291072" y="1950720"/>
            <a:ext cx="2438400" cy="188976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73952" y="2133600"/>
            <a:ext cx="512064" cy="51206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73952" y="2133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18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083552" y="2133600"/>
            <a:ext cx="152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B3C49"/>
                </a:solidFill>
                <a:latin typeface="Calibri"/>
              </a:rPr>
              <a:t>GX gate 0</a:t>
            </a:r>
            <a:endParaRPr lang="en-US" sz="21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73952" y="2743200"/>
            <a:ext cx="2072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Rows, tickers, duplicates,</a:t>
            </a: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impossible prices, freshness</a:t>
            </a:r>
          </a:p>
        </p:txBody>
      </p:sp>
      <p:sp>
        <p:nvSpPr>
          <p:cNvPr id="21" name="Shape 19"/>
          <p:cNvSpPr/>
          <p:nvPr/>
        </p:nvSpPr>
        <p:spPr>
          <a:xfrm>
            <a:off x="8778240" y="2895600"/>
            <a:ext cx="304800" cy="0"/>
          </a:xfrm>
          <a:prstGeom prst="line">
            <a:avLst/>
          </a:prstGeom>
          <a:noFill/>
          <a:ln w="25400">
            <a:solidFill>
              <a:srgbClr val="5B708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2" name="step-3"/>
          <p:cNvSpPr/>
          <p:nvPr/>
        </p:nvSpPr>
        <p:spPr>
          <a:xfrm>
            <a:off x="9131808" y="1950720"/>
            <a:ext cx="2438400" cy="1889760"/>
          </a:xfrm>
          <a:prstGeom prst="roundRect">
            <a:avLst>
              <a:gd name="adj" fmla="val 7742"/>
            </a:avLst>
          </a:prstGeom>
          <a:solidFill>
            <a:srgbClr val="EEF5F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14688" y="2133600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314688" y="2133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18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924288" y="2133600"/>
            <a:ext cx="152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0B3C49"/>
                </a:solidFill>
                <a:latin typeface="Calibri"/>
              </a:rPr>
              <a:t>BigQuery</a:t>
            </a:r>
            <a:endParaRPr lang="en-US" sz="21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9314688" y="2743200"/>
            <a:ext cx="2072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My own project</a:t>
            </a: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Partitioned by month,</a:t>
            </a: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clustered by ticker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609600" y="3962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E4572E"/>
                </a:solidFill>
                <a:latin typeface="Calibri"/>
              </a:rPr>
              <a:t>Fails → retry once after 5 min → still failing: nothing is loaded, yesterday’s table stays</a:t>
            </a:r>
            <a:endParaRPr lang="en-US" sz="1600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09600" y="4511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622,757</a:t>
            </a:r>
            <a:endParaRPr lang="en-US" sz="45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09600" y="5388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5B7083"/>
                </a:solidFill>
                <a:latin typeface="Calibri"/>
              </a:rPr>
              <a:t>rows loaded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450336" y="4511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45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450336" y="5388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5B7083"/>
                </a:solidFill>
                <a:latin typeface="Calibri"/>
              </a:rPr>
              <a:t>S&amp;P 500 stocks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291072" y="4511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Oct</a:t>
            </a:r>
            <a:endParaRPr lang="en-US" sz="45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291072" y="5388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5B7083"/>
                </a:solidFill>
                <a:latin typeface="Calibri"/>
              </a:rPr>
              <a:t>last complete day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9131808" y="4511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min</a:t>
            </a:r>
            <a:endParaRPr lang="en-US" sz="45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131808" y="5388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5B7083"/>
                </a:solidFill>
                <a:latin typeface="Calibri"/>
              </a:rPr>
              <a:t>end to end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09600" y="591312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7083"/>
                </a:solidFill>
                <a:latin typeface="Calibri"/>
              </a:rPr>
              <a:t>First run, 15 Oct 2026 · Dagster job own_v2_extract_and_load · download notebook by Team 2</a:t>
            </a:r>
            <a:endParaRPr lang="en-US" sz="13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B7083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Calibri"/>
              </a:rPr>
              <a:pPr defTabSz="1219170"/>
              <a:t>13</a:t>
            </a:fld>
            <a:endParaRPr lang="en-US"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quality gates – gate 3 caught a partial trading day</a:t>
            </a:r>
            <a:endParaRPr lang="en-US" sz="3200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" name="gate-0"/>
          <p:cNvSpPr/>
          <p:nvPr/>
        </p:nvSpPr>
        <p:spPr>
          <a:xfrm>
            <a:off x="609600" y="1341120"/>
            <a:ext cx="2023872" cy="115824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5904" y="1438656"/>
            <a:ext cx="1731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28090"/>
                </a:solidFill>
                <a:latin typeface="Calibri"/>
              </a:rPr>
              <a:t>Gate 0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55904" y="1792224"/>
            <a:ext cx="173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2A33"/>
                </a:solidFill>
                <a:latin typeface="Calibri"/>
              </a:rPr>
              <a:t>Download files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55904" y="2109216"/>
            <a:ext cx="1731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7083"/>
                </a:solidFill>
                <a:latin typeface="Calibri"/>
              </a:rPr>
              <a:t>Before load</a:t>
            </a:r>
            <a:endParaRPr lang="en-US" sz="14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7" name="gate-1"/>
          <p:cNvSpPr/>
          <p:nvPr/>
        </p:nvSpPr>
        <p:spPr>
          <a:xfrm>
            <a:off x="2840736" y="1341120"/>
            <a:ext cx="2023872" cy="115824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987040" y="1438656"/>
            <a:ext cx="1731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28090"/>
                </a:solidFill>
                <a:latin typeface="Calibri"/>
              </a:rPr>
              <a:t>Gate 1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987040" y="1792224"/>
            <a:ext cx="173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2A33"/>
                </a:solidFill>
                <a:latin typeface="Calibri"/>
              </a:rPr>
              <a:t>Raw table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987040" y="2109216"/>
            <a:ext cx="1731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7083"/>
                </a:solidFill>
                <a:latin typeface="Calibri"/>
              </a:rPr>
              <a:t>Meltano load</a:t>
            </a:r>
            <a:endParaRPr lang="en-US" sz="14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1" name="gate-2"/>
          <p:cNvSpPr/>
          <p:nvPr/>
        </p:nvSpPr>
        <p:spPr>
          <a:xfrm>
            <a:off x="5071872" y="1341120"/>
            <a:ext cx="2023872" cy="115824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18176" y="1438656"/>
            <a:ext cx="1731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28090"/>
                </a:solidFill>
                <a:latin typeface="Calibri"/>
              </a:rPr>
              <a:t>Gate 2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218176" y="1792224"/>
            <a:ext cx="173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2A33"/>
                </a:solidFill>
                <a:latin typeface="Calibri"/>
              </a:rPr>
              <a:t>Schema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218176" y="2109216"/>
            <a:ext cx="1731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7083"/>
                </a:solidFill>
                <a:latin typeface="Calibri"/>
              </a:rPr>
              <a:t>4 + 41 columns</a:t>
            </a:r>
            <a:endParaRPr lang="en-US" sz="14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5" name="gate-3"/>
          <p:cNvSpPr/>
          <p:nvPr/>
        </p:nvSpPr>
        <p:spPr>
          <a:xfrm>
            <a:off x="7303008" y="1341120"/>
            <a:ext cx="2023872" cy="1158240"/>
          </a:xfrm>
          <a:prstGeom prst="roundRect">
            <a:avLst>
              <a:gd name="adj" fmla="val 10526"/>
            </a:avLst>
          </a:prstGeom>
          <a:solidFill>
            <a:srgbClr val="FDE8E3"/>
          </a:solidFill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49312" y="1438656"/>
            <a:ext cx="1731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E4572E"/>
                </a:solidFill>
                <a:latin typeface="Calibri"/>
              </a:rPr>
              <a:t>Gate 3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449312" y="1792224"/>
            <a:ext cx="173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2A33"/>
                </a:solidFill>
                <a:latin typeface="Calibri"/>
              </a:rPr>
              <a:t>14 dimensions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49312" y="2109216"/>
            <a:ext cx="1731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7083"/>
                </a:solidFill>
                <a:latin typeface="Calibri"/>
              </a:rPr>
              <a:t>Team 2 rules</a:t>
            </a:r>
            <a:endParaRPr lang="en-US" sz="14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19" name="gate-4"/>
          <p:cNvSpPr/>
          <p:nvPr/>
        </p:nvSpPr>
        <p:spPr>
          <a:xfrm>
            <a:off x="9534144" y="1341120"/>
            <a:ext cx="2023872" cy="1158240"/>
          </a:xfrm>
          <a:prstGeom prst="roundRect">
            <a:avLst>
              <a:gd name="adj" fmla="val 10526"/>
            </a:avLst>
          </a:prstGeom>
          <a:solidFill>
            <a:srgbClr val="EEF5F6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680448" y="1438656"/>
            <a:ext cx="1731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28090"/>
                </a:solidFill>
                <a:latin typeface="Calibri"/>
              </a:rPr>
              <a:t>Gate 4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680448" y="1792224"/>
            <a:ext cx="1731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2A33"/>
                </a:solidFill>
                <a:latin typeface="Calibri"/>
              </a:rPr>
              <a:t>Marts + views</a:t>
            </a:r>
            <a:endParaRPr lang="en-US" sz="1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680448" y="2109216"/>
            <a:ext cx="1731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B7083"/>
                </a:solidFill>
                <a:latin typeface="Calibri"/>
              </a:rPr>
              <a:t>Before analysis</a:t>
            </a:r>
            <a:endParaRPr lang="en-US" sz="1467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3" name="finding-card"/>
          <p:cNvSpPr/>
          <p:nvPr/>
        </p:nvSpPr>
        <p:spPr>
          <a:xfrm>
            <a:off x="609600" y="2865120"/>
            <a:ext cx="6827520" cy="2865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5E3E6"/>
            </a:solidFill>
            <a:prstDash val="solid"/>
          </a:ln>
        </p:spPr>
        <p:txBody>
          <a:bodyPr/>
          <a:lstStyle/>
          <a:p>
            <a:pPr defTabSz="1219170"/>
            <a:endParaRPr lang="en-SG" sz="240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53440" y="2987040"/>
            <a:ext cx="6339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0B3C49"/>
                </a:solidFill>
                <a:latin typeface="Calibri"/>
              </a:rPr>
              <a:t>8 Oct was downloaded while the US market was still trading</a:t>
            </a:r>
            <a:endParaRPr lang="en-US" sz="2000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53440" y="3413760"/>
            <a:ext cx="6339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B7083"/>
                </a:solidFill>
                <a:latin typeface="Calibri"/>
              </a:rPr>
              <a:t>Closes that differ from my own (final) download</a:t>
            </a:r>
            <a:endParaRPr lang="en-US" sz="1600" dirty="0">
              <a:solidFill>
                <a:srgbClr val="1B2A33"/>
              </a:solidFill>
              <a:latin typeface="Calibri"/>
            </a:endParaRPr>
          </a:p>
        </p:txBody>
      </p:sp>
      <p:graphicFrame>
        <p:nvGraphicFramePr>
          <p:cNvPr id="26" name="Chart 0"/>
          <p:cNvGraphicFramePr/>
          <p:nvPr/>
        </p:nvGraphicFramePr>
        <p:xfrm>
          <a:off x="731520" y="3718560"/>
          <a:ext cx="6583680" cy="195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7802880" y="2865120"/>
            <a:ext cx="377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4533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533" dirty="0">
              <a:solidFill>
                <a:srgbClr val="1B2A33"/>
              </a:solidFill>
              <a:latin typeface="Calibri"/>
            </a:endParaRP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impossible prices flagged by gate 3 – open outside the day’s high–low</a:t>
            </a:r>
            <a:endParaRPr lang="en-US" sz="45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7802880" y="4206240"/>
            <a:ext cx="37795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3733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 → 0</a:t>
            </a:r>
            <a:endParaRPr lang="en-US" sz="3733" dirty="0">
              <a:solidFill>
                <a:srgbClr val="1B2A33"/>
              </a:solidFill>
              <a:latin typeface="Calibri"/>
            </a:endParaRPr>
          </a:p>
          <a:p>
            <a:pPr defTabSz="1219170"/>
            <a:r>
              <a:rPr lang="en-US" sz="1600" dirty="0">
                <a:solidFill>
                  <a:srgbClr val="1B2A33"/>
                </a:solidFill>
                <a:latin typeface="Calibri"/>
              </a:rPr>
              <a:t>Waters market caps above $10 tn, v1 → v2</a:t>
            </a:r>
            <a:endParaRPr lang="en-US" sz="37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7802880" y="5242560"/>
            <a:ext cx="377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B3C49"/>
                </a:solidFill>
                <a:latin typeface="Calibri"/>
              </a:rPr>
              <a:t>Action: analysis ends 7 Oct; evidence committed to the repo</a:t>
            </a:r>
            <a:endParaRPr lang="en-US" sz="1600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609600" y="591312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B7083"/>
                </a:solidFill>
                <a:latin typeface="Calibri"/>
              </a:rPr>
              <a:t>Next: incremental loads · Docker + Google Cloud · project ID in .env</a:t>
            </a:r>
            <a:endParaRPr lang="en-US" sz="1333" dirty="0">
              <a:solidFill>
                <a:srgbClr val="1B2A33"/>
              </a:solidFill>
              <a:latin typeface="Calibri"/>
            </a:endParaRPr>
          </a:p>
        </p:txBody>
      </p:sp>
      <p:sp>
        <p:nvSpPr>
          <p:cNvPr id="3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365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5B7083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Calibri"/>
              </a:rPr>
              <a:pPr defTabSz="1219170"/>
              <a:t>14</a:t>
            </a:fld>
            <a:endParaRPr lang="en-US"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40637" y="2267842"/>
            <a:ext cx="4341762" cy="1000125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40637" y="3382267"/>
            <a:ext cx="4341762" cy="1000125"/>
          </a:xfrm>
          <a:prstGeom prst="roundRect">
            <a:avLst>
              <a:gd name="adj" fmla="val 5714"/>
            </a:avLst>
          </a:prstGeom>
          <a:solidFill>
            <a:srgbClr val="FCF5F4"/>
          </a:solidFill>
          <a:ln w="9525">
            <a:solidFill>
              <a:srgbClr val="EB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40637" y="4496692"/>
            <a:ext cx="4341762" cy="1000125"/>
          </a:xfrm>
          <a:prstGeom prst="roundRect">
            <a:avLst>
              <a:gd name="adj" fmla="val 5714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8705"/>
            <a:ext cx="6326237" cy="466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672530"/>
            <a:ext cx="6078587" cy="441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ANALYSIS 1 · AAPL TRAILING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9743373" cy="2949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SG" sz="1950" b="1" i="0" u="none" dirty="0">
                <a:solidFill>
                  <a:srgbClr val="1E293B"/>
                </a:solidFill>
                <a:latin typeface="Arial"/>
              </a:rPr>
              <a:t>Is there growth in </a:t>
            </a:r>
            <a:r>
              <a:rPr sz="1950" b="1" i="0" u="none" dirty="0">
                <a:solidFill>
                  <a:srgbClr val="1E293B"/>
                </a:solidFill>
                <a:latin typeface="Arial"/>
              </a:rPr>
              <a:t>Apple </a:t>
            </a:r>
            <a:r>
              <a:rPr lang="en-SG" sz="1950" b="1" i="0" u="none" dirty="0">
                <a:solidFill>
                  <a:srgbClr val="1E293B"/>
                </a:solidFill>
                <a:latin typeface="Arial"/>
              </a:rPr>
              <a:t>Inc. </a:t>
            </a:r>
            <a:r>
              <a:rPr lang="en-SG" sz="1950" b="1" dirty="0">
                <a:solidFill>
                  <a:srgbClr val="1E293B"/>
                </a:solidFill>
                <a:latin typeface="Arial"/>
              </a:rPr>
              <a:t>annual</a:t>
            </a:r>
            <a:r>
              <a:rPr sz="1950" b="1" i="0" u="none" dirty="0">
                <a:solidFill>
                  <a:srgbClr val="1E293B"/>
                </a:solidFill>
                <a:latin typeface="Arial"/>
              </a:rPr>
              <a:t> </a:t>
            </a:r>
            <a:r>
              <a:rPr lang="en-SG" sz="1950" b="1" dirty="0">
                <a:solidFill>
                  <a:srgbClr val="1E293B"/>
                </a:solidFill>
                <a:latin typeface="Arial"/>
              </a:rPr>
              <a:t>return</a:t>
            </a:r>
            <a:r>
              <a:rPr sz="1950" b="1" i="0" u="none" dirty="0">
                <a:solidFill>
                  <a:srgbClr val="1E293B"/>
                </a:solidFill>
                <a:latin typeface="Arial"/>
              </a:rPr>
              <a:t> </a:t>
            </a:r>
            <a:r>
              <a:rPr lang="en-SG" sz="1950" b="1" i="0" u="none" dirty="0">
                <a:solidFill>
                  <a:srgbClr val="1E293B"/>
                </a:solidFill>
                <a:latin typeface="Arial"/>
              </a:rPr>
              <a:t>in last three 12 months trailing period? </a:t>
            </a:r>
            <a:endParaRPr sz="1950" b="1" i="0" u="none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933749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854D0E"/>
                </a:solidFill>
                <a:latin typeface="Arial"/>
              </a:rPr>
              <a:t>Key Finding: No incremental </a:t>
            </a:r>
            <a:r>
              <a:rPr lang="en-SG" sz="1500" b="1" i="0" u="none" dirty="0">
                <a:solidFill>
                  <a:srgbClr val="854D0E"/>
                </a:solidFill>
                <a:latin typeface="Arial"/>
              </a:rPr>
              <a:t>growth on annual</a:t>
            </a:r>
            <a:r>
              <a:rPr sz="1500" b="1" i="0" u="none" dirty="0">
                <a:solidFill>
                  <a:srgbClr val="854D0E"/>
                </a:solidFill>
                <a:latin typeface="Arial"/>
              </a:rPr>
              <a:t> return since </a:t>
            </a:r>
            <a:r>
              <a:rPr lang="en-SG" sz="1500" b="1" dirty="0">
                <a:solidFill>
                  <a:srgbClr val="854D0E"/>
                </a:solidFill>
                <a:latin typeface="Arial"/>
              </a:rPr>
              <a:t>2</a:t>
            </a:r>
            <a:r>
              <a:rPr lang="en-SG" sz="1500" b="1" i="0" u="none" dirty="0">
                <a:solidFill>
                  <a:srgbClr val="854D0E"/>
                </a:solidFill>
                <a:latin typeface="Arial"/>
              </a:rPr>
              <a:t> years ago (since </a:t>
            </a:r>
            <a:r>
              <a:rPr sz="1500" b="1" i="0" u="none" dirty="0">
                <a:solidFill>
                  <a:srgbClr val="854D0E"/>
                </a:solidFill>
                <a:latin typeface="Arial"/>
              </a:rPr>
              <a:t>2023</a:t>
            </a:r>
            <a:r>
              <a:rPr lang="en-US" sz="1500" b="1" i="0" u="none" dirty="0">
                <a:solidFill>
                  <a:srgbClr val="854D0E"/>
                </a:solidFill>
                <a:latin typeface="Arial"/>
              </a:rPr>
              <a:t>10</a:t>
            </a:r>
            <a:r>
              <a:rPr sz="1500" b="1" i="0" u="none" dirty="0">
                <a:solidFill>
                  <a:srgbClr val="854D0E"/>
                </a:solidFill>
                <a:latin typeface="Arial"/>
              </a:rPr>
              <a:t>–2024</a:t>
            </a:r>
            <a:r>
              <a:rPr lang="en-US" sz="1500" b="1" i="0" u="none" dirty="0">
                <a:solidFill>
                  <a:srgbClr val="854D0E"/>
                </a:solidFill>
                <a:latin typeface="Arial"/>
              </a:rPr>
              <a:t>09</a:t>
            </a:r>
            <a:r>
              <a:rPr sz="1500" b="1" i="0" u="none" dirty="0">
                <a:solidFill>
                  <a:srgbClr val="854D0E"/>
                </a:solidFill>
                <a:latin typeface="Arial"/>
              </a:rPr>
              <a:t> period</a:t>
            </a:r>
            <a:r>
              <a:rPr lang="en-SG" sz="1500" b="1" i="0" u="none" dirty="0">
                <a:solidFill>
                  <a:srgbClr val="854D0E"/>
                </a:solidFill>
                <a:latin typeface="Arial"/>
              </a:rPr>
              <a:t>)</a:t>
            </a:r>
            <a:r>
              <a:rPr sz="1500" b="1" i="0" u="none" dirty="0">
                <a:solidFill>
                  <a:srgbClr val="854D0E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2562" y="2429767"/>
            <a:ext cx="195887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050" b="0" i="0" u="none" dirty="0">
                <a:solidFill>
                  <a:srgbClr val="64748B"/>
                </a:solidFill>
                <a:latin typeface="Arial"/>
              </a:rPr>
              <a:t>2 years ago: </a:t>
            </a:r>
            <a:r>
              <a:rPr sz="1050" b="0" i="0" u="none" dirty="0">
                <a:solidFill>
                  <a:srgbClr val="64748B"/>
                </a:solidFill>
                <a:latin typeface="Arial"/>
              </a:rPr>
              <a:t>2023-10 to 2024-09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2562" y="2601217"/>
            <a:ext cx="4789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Arial"/>
              </a:rPr>
              <a:t>+30.86%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2562" y="2906017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Strong baseline performance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2562" y="3544192"/>
            <a:ext cx="18915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050" b="0" i="0" u="none" dirty="0">
                <a:solidFill>
                  <a:srgbClr val="7D3C34"/>
                </a:solidFill>
                <a:latin typeface="Arial"/>
              </a:rPr>
              <a:t>1 year ago: </a:t>
            </a:r>
            <a:r>
              <a:rPr sz="1050" b="0" i="0" u="none" dirty="0">
                <a:solidFill>
                  <a:srgbClr val="7D3C34"/>
                </a:solidFill>
                <a:latin typeface="Arial"/>
              </a:rPr>
              <a:t>2024-10 to 2025-09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2562" y="3715642"/>
            <a:ext cx="4789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7D3C34"/>
                </a:solidFill>
                <a:latin typeface="Arial"/>
              </a:rPr>
              <a:t>+13.45%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2562" y="4020442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B4742"/>
                </a:solidFill>
                <a:latin typeface="Arial"/>
              </a:rPr>
              <a:t>17.41% points sharp deceleration.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2562" y="4658617"/>
            <a:ext cx="15757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050" b="0" i="0" u="none" dirty="0">
                <a:solidFill>
                  <a:srgbClr val="2C543B"/>
                </a:solidFill>
                <a:latin typeface="Arial"/>
              </a:rPr>
              <a:t>latest: </a:t>
            </a:r>
            <a:r>
              <a:rPr sz="1050" b="0" i="0" u="none" dirty="0">
                <a:solidFill>
                  <a:srgbClr val="2C543B"/>
                </a:solidFill>
                <a:latin typeface="Arial"/>
              </a:rPr>
              <a:t>2025-10 to 2026-09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2562" y="4830067"/>
            <a:ext cx="4789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C543B"/>
                </a:solidFill>
                <a:latin typeface="Arial"/>
              </a:rPr>
              <a:t>+29.79%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2562" y="5134867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65342"/>
                </a:solidFill>
                <a:latin typeface="Arial"/>
              </a:rPr>
              <a:t>Rebound remains below 2024 peak level.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40637" y="2365027"/>
            <a:ext cx="4341762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40637" y="3403252"/>
            <a:ext cx="4341762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40637" y="4441477"/>
            <a:ext cx="4341762" cy="958155"/>
          </a:xfrm>
          <a:prstGeom prst="roundRect">
            <a:avLst>
              <a:gd name="adj" fmla="val 5964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8705"/>
            <a:ext cx="6326237" cy="466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672530"/>
            <a:ext cx="6078587" cy="441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A6572"/>
                </a:solidFill>
                <a:latin typeface="Arial"/>
              </a:rPr>
              <a:t>ANALYSIS </a:t>
            </a:r>
            <a:r>
              <a:rPr lang="en-SG" sz="975" b="1" i="0" u="none" dirty="0">
                <a:solidFill>
                  <a:srgbClr val="4A6572"/>
                </a:solidFill>
                <a:latin typeface="Arial"/>
              </a:rPr>
              <a:t>3</a:t>
            </a:r>
            <a:r>
              <a:rPr sz="975" b="1" i="0" u="none" dirty="0">
                <a:solidFill>
                  <a:srgbClr val="4A6572"/>
                </a:solidFill>
                <a:latin typeface="Arial"/>
              </a:rPr>
              <a:t> · RISK-ADJUSTED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1158240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1E293B"/>
                </a:solidFill>
                <a:latin typeface="Arial"/>
              </a:rPr>
              <a:t>Nvidia (NVDA): Multi-Window Sharpe Ratio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65437"/>
                </a:solidFill>
                <a:latin typeface="Arial"/>
              </a:rPr>
              <a:t>Key Finding: NVDA maintained exceptional Sharpe &gt; 1 over 3 and 5 year horizons.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3512" y="2507902"/>
            <a:ext cx="4808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Arial"/>
              </a:rPr>
              <a:t>3-Year Window (AI Wave)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3512" y="2679352"/>
            <a:ext cx="4808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C4A68"/>
                </a:solidFill>
                <a:latin typeface="Arial"/>
              </a:rPr>
              <a:t>Sharpe: 1.33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3512" y="2946052"/>
            <a:ext cx="4808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95th percentile in S&amp;P 500 (417.5% return).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3512" y="3546127"/>
            <a:ext cx="4808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Arial"/>
              </a:rPr>
              <a:t>5-Year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3512" y="3717577"/>
            <a:ext cx="4808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C4A68"/>
                </a:solidFill>
                <a:latin typeface="Arial"/>
              </a:rPr>
              <a:t>Sharpe: 1.12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3512" y="3984277"/>
            <a:ext cx="4808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98th percentile in S&amp;P 500 (1038.4% return).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3512" y="4584352"/>
            <a:ext cx="48084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C543B"/>
                </a:solidFill>
                <a:latin typeface="Arial"/>
              </a:rPr>
              <a:t>Above-Market Compensation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3512" y="4793902"/>
            <a:ext cx="4151262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365342"/>
                </a:solidFill>
                <a:latin typeface="Arial"/>
              </a:rPr>
              <a:t>Sharpe &gt; 1 proves excess returns comprehensively surpassed elevated volatility.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40637" y="2401192"/>
            <a:ext cx="4341762" cy="990600"/>
          </a:xfrm>
          <a:prstGeom prst="roundRect">
            <a:avLst>
              <a:gd name="adj" fmla="val 5769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40637" y="3506092"/>
            <a:ext cx="4341762" cy="752475"/>
          </a:xfrm>
          <a:prstGeom prst="roundRect">
            <a:avLst>
              <a:gd name="adj" fmla="val 7594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40637" y="4372867"/>
            <a:ext cx="4341762" cy="990600"/>
          </a:xfrm>
          <a:prstGeom prst="roundRect">
            <a:avLst>
              <a:gd name="adj" fmla="val 5769"/>
            </a:avLst>
          </a:prstGeom>
          <a:solidFill>
            <a:srgbClr val="FCF7F6"/>
          </a:solidFill>
          <a:ln w="9525">
            <a:solidFill>
              <a:srgbClr val="EE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8705"/>
            <a:ext cx="6326237" cy="466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672530"/>
            <a:ext cx="6078587" cy="441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ANALYSIS 2 · SECTOR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1158240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1E293B"/>
                </a:solidFill>
                <a:latin typeface="Arial"/>
              </a:rPr>
              <a:t>S&amp;P 500 Average Daily Return by Sector (Latest 1-Year)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B4C68"/>
                </a:solidFill>
                <a:latin typeface="Arial"/>
              </a:rPr>
              <a:t>Key Finding: Tech (+0.21%) and Energy (+0.16%) led all sectors in daily returns.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2562" y="2563117"/>
            <a:ext cx="4789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Arial"/>
              </a:rPr>
              <a:t>Top Performers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2562" y="2791717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Info Tech: +0.2060%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2562" y="3029842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Energy: +0.1645%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2562" y="3668017"/>
            <a:ext cx="4789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Arial"/>
              </a:rPr>
              <a:t>Positive Breadth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2562" y="3896617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7 of 11 sectors posted positive average daily gains.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2562" y="4534792"/>
            <a:ext cx="4789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6B4742"/>
                </a:solidFill>
                <a:latin typeface="Arial"/>
              </a:rPr>
              <a:t>Lagging Sectors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2562" y="4763392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D3C34"/>
                </a:solidFill>
                <a:latin typeface="Arial"/>
              </a:rPr>
              <a:t>Communication Services: -0.0182%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2562" y="5001517"/>
            <a:ext cx="478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D3C34"/>
                </a:solidFill>
                <a:latin typeface="Arial"/>
              </a:rPr>
              <a:t>Consumer Discretionary: -0.0151%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40637" y="2518469"/>
            <a:ext cx="4341762" cy="733425"/>
          </a:xfrm>
          <a:prstGeom prst="rect">
            <a:avLst/>
          </a:prstGeom>
          <a:solidFill>
            <a:srgbClr val="FC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240637" y="3366194"/>
            <a:ext cx="4341762" cy="733425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40637" y="4213919"/>
            <a:ext cx="4341762" cy="1032271"/>
          </a:xfrm>
          <a:prstGeom prst="roundRect">
            <a:avLst>
              <a:gd name="adj" fmla="val 5536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240637" y="2518469"/>
            <a:ext cx="28575" cy="733425"/>
          </a:xfrm>
          <a:prstGeom prst="rect">
            <a:avLst/>
          </a:prstGeom>
          <a:solidFill>
            <a:srgbClr val="9C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40637" y="3366194"/>
            <a:ext cx="28575" cy="733425"/>
          </a:xfrm>
          <a:prstGeom prst="rect">
            <a:avLst/>
          </a:prstGeom>
          <a:solidFill>
            <a:srgbClr val="487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8705"/>
            <a:ext cx="6326237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672530"/>
            <a:ext cx="6078587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810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ANALYSIS 2 · RISK VS. RETURN 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61975"/>
            <a:ext cx="1158240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1E293B"/>
                </a:solidFill>
                <a:latin typeface="Arial"/>
              </a:rPr>
              <a:t>Daily Return Volatility Across S&amp;P 500 Sectors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16185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C4A27"/>
                </a:solidFill>
                <a:latin typeface="Arial"/>
              </a:rPr>
              <a:t>Key Finding: Tech had highest returns but also the greatest daily variability (3.60%).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1612" y="2670869"/>
            <a:ext cx="47703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6E3C1E"/>
                </a:solidFill>
                <a:latin typeface="Arial"/>
              </a:rPr>
              <a:t>Highest 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1612" y="2899469"/>
            <a:ext cx="4770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C4A27"/>
                </a:solidFill>
                <a:latin typeface="Arial"/>
              </a:rPr>
              <a:t>Info Tech: 3.6026% daily standard deviation.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1612" y="3518594"/>
            <a:ext cx="47703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C543B"/>
                </a:solidFill>
                <a:latin typeface="Arial"/>
              </a:rPr>
              <a:t>Lowest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612" y="3747194"/>
            <a:ext cx="4770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65342"/>
                </a:solidFill>
                <a:latin typeface="Arial"/>
              </a:rPr>
              <a:t>Utilities: 1.5530% daily standard deviation.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2562" y="4375844"/>
            <a:ext cx="4789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Arial"/>
              </a:rPr>
              <a:t>Risk-Return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2562" y="4604444"/>
            <a:ext cx="411316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52616B"/>
                </a:solidFill>
                <a:latin typeface="Arial"/>
              </a:rPr>
              <a:t>Superior tech performance required tolerating over 2.3× the daily price swings of utilities.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40637" y="2365027"/>
            <a:ext cx="4341762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40637" y="3403252"/>
            <a:ext cx="4341762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40637" y="4441477"/>
            <a:ext cx="4341762" cy="958155"/>
          </a:xfrm>
          <a:prstGeom prst="roundRect">
            <a:avLst>
              <a:gd name="adj" fmla="val 5964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8705"/>
            <a:ext cx="6326237" cy="4667250"/>
          </a:xfrm>
          <a:prstGeom prst="rect">
            <a:avLst/>
          </a:prstGeom>
        </p:spPr>
      </p:pic>
      <p:pic>
        <p:nvPicPr>
          <p:cNvPr id="6" name="Picture 5" descr="Scatter chart: median price growth versus median earnings growth for 10 secto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672530"/>
            <a:ext cx="6078587" cy="441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A6572"/>
                </a:solidFill>
                <a:latin typeface="Arial"/>
              </a:rPr>
              <a:t>ANALYSIS 4 · SECTOR 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1158240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1E293B"/>
                </a:solidFill>
                <a:latin typeface="Arial"/>
              </a:rPr>
              <a:t>Did Prices Follow Profits? Price vs Earnings Growth by 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265437"/>
                </a:solidFill>
                <a:latin typeface="Arial"/>
              </a:rPr>
              <a:t>Key Finding: IT earned its rally; Financials grew profits 23% while prices stood still.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3512" y="2507902"/>
            <a:ext cx="4808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Arial"/>
              </a:rPr>
              <a:t>Information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3512" y="2679352"/>
            <a:ext cx="4808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2C4A68"/>
                </a:solidFill>
                <a:latin typeface="Arial"/>
              </a:rPr>
              <a:t>Price +30% · Profits +32%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3512" y="2946052"/>
            <a:ext cx="4808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Earned rally, but priciest sector (P/E 37.4).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3512" y="3546127"/>
            <a:ext cx="4808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Arial"/>
              </a:rPr>
              <a:t>Financials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3512" y="3717577"/>
            <a:ext cx="4808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C4A68"/>
                </a:solidFill>
                <a:latin typeface="Arial"/>
              </a:rPr>
              <a:t>Price +1% · Profits +23%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3512" y="3984277"/>
            <a:ext cx="4808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2616B"/>
                </a:solidFill>
                <a:latin typeface="Arial"/>
              </a:rPr>
              <a:t>Lowest P/E of all sectors (14.3).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3512" y="4584352"/>
            <a:ext cx="48084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C543B"/>
                </a:solidFill>
                <a:latin typeface="Arial"/>
              </a:rPr>
              <a:t>Method &amp; 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3512" y="4793902"/>
            <a:ext cx="4151262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365342"/>
                </a:solidFill>
                <a:latin typeface="Arial"/>
              </a:rPr>
              <a:t>Sector medians, 7 Oct 2025 – 7 Oct 2026 (8 Oct excluded). Real Estate omitted: distorted EPS.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417489" y="2365027"/>
            <a:ext cx="3603320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17489" y="3403252"/>
            <a:ext cx="3603320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7489" y="4441477"/>
            <a:ext cx="3603320" cy="958155"/>
          </a:xfrm>
          <a:prstGeom prst="roundRect">
            <a:avLst>
              <a:gd name="adj" fmla="val 5964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208550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A6572"/>
                </a:solidFill>
                <a:latin typeface="Arial"/>
              </a:rPr>
              <a:t>ANALYSIS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5</a:t>
            </a:r>
            <a:r>
              <a:rPr sz="975" b="1" i="0" u="none" dirty="0">
                <a:solidFill>
                  <a:srgbClr val="4A6572"/>
                </a:solidFill>
                <a:latin typeface="Arial"/>
              </a:rPr>
              <a:t> ·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PRICE MOMENTUM  </a:t>
            </a:r>
            <a:endParaRPr sz="975" b="1" i="0" u="none" dirty="0">
              <a:solidFill>
                <a:srgbClr val="4A6572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4316887" cy="2949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i="0" u="none" dirty="0">
                <a:solidFill>
                  <a:srgbClr val="1E293B"/>
                </a:solidFill>
                <a:latin typeface="Arial"/>
              </a:rPr>
              <a:t>Example 1: Stock on the up </a:t>
            </a:r>
            <a:r>
              <a:rPr lang="en-US" sz="1950" b="1" dirty="0">
                <a:solidFill>
                  <a:srgbClr val="1E293B"/>
                </a:solidFill>
                <a:latin typeface="Arial"/>
              </a:rPr>
              <a:t>(</a:t>
            </a:r>
            <a:r>
              <a:rPr lang="en-US" sz="1950" b="1" i="0" u="none" dirty="0">
                <a:solidFill>
                  <a:srgbClr val="1E293B"/>
                </a:solidFill>
                <a:latin typeface="Arial"/>
              </a:rPr>
              <a:t>AAPL)  </a:t>
            </a:r>
            <a:endParaRPr sz="1950" b="1" i="0" u="none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5290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265437"/>
                </a:solidFill>
                <a:latin typeface="Arial"/>
              </a:rPr>
              <a:t> </a:t>
            </a:r>
            <a:endParaRPr sz="1500" b="1" i="0" u="none" dirty="0">
              <a:solidFill>
                <a:srgbClr val="2654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8534" y="2679352"/>
            <a:ext cx="159017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Strong uptrend </a:t>
            </a:r>
            <a:endParaRPr sz="1650" b="1" i="0" u="none" dirty="0">
              <a:solidFill>
                <a:srgbClr val="2C4A68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8534" y="2946052"/>
            <a:ext cx="238052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52616B"/>
                </a:solidFill>
                <a:latin typeface="Arial"/>
              </a:rPr>
              <a:t>Price &gt; MA20 &gt;MA50 &gt;MA 100</a:t>
            </a:r>
            <a:endParaRPr sz="1350" b="0" i="0" u="none" dirty="0">
              <a:solidFill>
                <a:srgbClr val="52616B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8535" y="3558393"/>
            <a:ext cx="3226034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52616B"/>
                </a:solidFill>
                <a:latin typeface="Arial"/>
              </a:rPr>
              <a:t>In past week, price came down slightly to intersect MA20, but still comfortably above MA50 and MA100</a:t>
            </a:r>
            <a:endParaRPr sz="1350" b="0" i="0" u="none" dirty="0">
              <a:solidFill>
                <a:srgbClr val="52616B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8535" y="4584352"/>
            <a:ext cx="331821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C543B"/>
                </a:solidFill>
                <a:latin typeface="Arial"/>
              </a:rPr>
              <a:t>Above-Market Compensation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8534" y="4793902"/>
            <a:ext cx="3226035" cy="212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 dirty="0">
                <a:solidFill>
                  <a:srgbClr val="365342"/>
                </a:solidFill>
                <a:latin typeface="Arial"/>
              </a:rPr>
              <a:t>Stock in healthy, powerful bull market </a:t>
            </a:r>
            <a:endParaRPr sz="1350" b="0" i="0" u="none" dirty="0">
              <a:solidFill>
                <a:srgbClr val="365342"/>
              </a:solidFill>
              <a:latin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5F5B50-9850-5038-7669-E9311161E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30" y="1609999"/>
            <a:ext cx="7772400" cy="474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15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417489" y="2564010"/>
            <a:ext cx="3603320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7489" y="3602235"/>
            <a:ext cx="3603320" cy="958155"/>
          </a:xfrm>
          <a:prstGeom prst="roundRect">
            <a:avLst>
              <a:gd name="adj" fmla="val 5964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126477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A6572"/>
                </a:solidFill>
                <a:latin typeface="Arial"/>
              </a:rPr>
              <a:t>ANALYSIS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5</a:t>
            </a:r>
            <a:r>
              <a:rPr sz="975" b="1" i="0" u="none" dirty="0">
                <a:solidFill>
                  <a:srgbClr val="4A6572"/>
                </a:solidFill>
                <a:latin typeface="Arial"/>
              </a:rPr>
              <a:t> ·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PRICE </a:t>
            </a:r>
            <a:endParaRPr sz="975" b="1" i="0" u="none" dirty="0">
              <a:solidFill>
                <a:srgbClr val="4A6572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4666342" cy="2949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i="0" u="none" dirty="0">
                <a:solidFill>
                  <a:srgbClr val="1E293B"/>
                </a:solidFill>
                <a:latin typeface="Arial"/>
              </a:rPr>
              <a:t>Example 2: Short-term pullback (MSFT)</a:t>
            </a:r>
            <a:endParaRPr sz="1950" b="1" i="0" u="none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15869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265437"/>
                </a:solidFill>
                <a:latin typeface="Arial"/>
              </a:rPr>
              <a:t>.. </a:t>
            </a:r>
            <a:endParaRPr sz="1500" b="1" i="0" u="none" dirty="0">
              <a:solidFill>
                <a:srgbClr val="265437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8535" y="3745110"/>
            <a:ext cx="331821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2C543B"/>
                </a:solidFill>
                <a:latin typeface="Arial"/>
              </a:rPr>
              <a:t>.</a:t>
            </a:r>
            <a:endParaRPr sz="1200" b="1" i="0" u="none" dirty="0">
              <a:solidFill>
                <a:srgbClr val="2C543B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8534" y="3954660"/>
            <a:ext cx="3226035" cy="443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 dirty="0">
                <a:solidFill>
                  <a:srgbClr val="365342"/>
                </a:solidFill>
                <a:latin typeface="Arial"/>
              </a:rPr>
              <a:t>Brief cooling off period before buyers stepped back in in early Oct </a:t>
            </a:r>
            <a:endParaRPr sz="1350" b="0" i="0" u="none" dirty="0">
              <a:solidFill>
                <a:srgbClr val="365342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7E950-AE16-37F5-C5C0-0B4F6215D102}"/>
              </a:ext>
            </a:extLst>
          </p:cNvPr>
          <p:cNvSpPr txBox="1"/>
          <p:nvPr/>
        </p:nvSpPr>
        <p:spPr>
          <a:xfrm>
            <a:off x="8598534" y="2785731"/>
            <a:ext cx="199894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Short-term pullback</a:t>
            </a:r>
            <a:endParaRPr sz="1650" b="1" i="0" u="none" dirty="0">
              <a:solidFill>
                <a:srgbClr val="2C4A68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3602D-4CE9-302B-5E67-F6FFAFE31198}"/>
              </a:ext>
            </a:extLst>
          </p:cNvPr>
          <p:cNvSpPr txBox="1"/>
          <p:nvPr/>
        </p:nvSpPr>
        <p:spPr>
          <a:xfrm>
            <a:off x="8598534" y="3052431"/>
            <a:ext cx="158216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52616B"/>
                </a:solidFill>
                <a:latin typeface="Arial"/>
              </a:rPr>
              <a:t>MA20 &gt; Price in Sep</a:t>
            </a:r>
            <a:endParaRPr sz="1350" b="0" i="0" u="none" dirty="0">
              <a:solidFill>
                <a:srgbClr val="52616B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66CD9B-D292-6397-7979-578D178FA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49" y="1377653"/>
            <a:ext cx="7772400" cy="474855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646A5C-A276-F1DA-6F95-B08AF69D1CB7}"/>
              </a:ext>
            </a:extLst>
          </p:cNvPr>
          <p:cNvSpPr/>
          <p:nvPr/>
        </p:nvSpPr>
        <p:spPr>
          <a:xfrm>
            <a:off x="6400800" y="2679352"/>
            <a:ext cx="1077238" cy="4744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39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417489" y="2564010"/>
            <a:ext cx="3603320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7489" y="4616841"/>
            <a:ext cx="3603320" cy="958155"/>
          </a:xfrm>
          <a:prstGeom prst="roundRect">
            <a:avLst>
              <a:gd name="adj" fmla="val 5964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126477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A6572"/>
                </a:solidFill>
                <a:latin typeface="Arial"/>
              </a:rPr>
              <a:t>ANALYSIS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5</a:t>
            </a:r>
            <a:r>
              <a:rPr sz="975" b="1" i="0" u="none" dirty="0">
                <a:solidFill>
                  <a:srgbClr val="4A6572"/>
                </a:solidFill>
                <a:latin typeface="Arial"/>
              </a:rPr>
              <a:t> ·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PRICE </a:t>
            </a:r>
            <a:endParaRPr sz="975" b="1" i="0" u="none" dirty="0">
              <a:solidFill>
                <a:srgbClr val="4A6572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4332917" cy="2949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i="0" u="none" dirty="0">
                <a:solidFill>
                  <a:srgbClr val="1E293B"/>
                </a:solidFill>
                <a:latin typeface="Arial"/>
              </a:rPr>
              <a:t>Example 3: Deeper pullback (GOOG)</a:t>
            </a:r>
            <a:endParaRPr sz="1950" b="1" i="0" u="none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15869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265437"/>
                </a:solidFill>
                <a:latin typeface="Arial"/>
              </a:rPr>
              <a:t>.. </a:t>
            </a:r>
            <a:endParaRPr sz="1500" b="1" i="0" u="none" dirty="0">
              <a:solidFill>
                <a:srgbClr val="265437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8534" y="4793902"/>
            <a:ext cx="3226035" cy="674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 dirty="0">
                <a:solidFill>
                  <a:srgbClr val="365342"/>
                </a:solidFill>
                <a:latin typeface="Arial"/>
              </a:rPr>
              <a:t>Some uptick in early Oct</a:t>
            </a:r>
          </a:p>
          <a:p>
            <a:pPr algn="l">
              <a:lnSpc>
                <a:spcPts val="1822"/>
              </a:lnSpc>
            </a:pPr>
            <a:r>
              <a:rPr lang="en-US" sz="1350" b="0" i="0" u="none" dirty="0">
                <a:solidFill>
                  <a:srgbClr val="365342"/>
                </a:solidFill>
                <a:latin typeface="Arial"/>
              </a:rPr>
              <a:t>Is the stock ready to resume broader uptrend?</a:t>
            </a:r>
            <a:endParaRPr sz="1350" b="0" i="0" u="none" dirty="0">
              <a:solidFill>
                <a:srgbClr val="365342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7E950-AE16-37F5-C5C0-0B4F6215D102}"/>
              </a:ext>
            </a:extLst>
          </p:cNvPr>
          <p:cNvSpPr txBox="1"/>
          <p:nvPr/>
        </p:nvSpPr>
        <p:spPr>
          <a:xfrm>
            <a:off x="8598534" y="2785731"/>
            <a:ext cx="141224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June pullback</a:t>
            </a:r>
            <a:endParaRPr sz="1650" b="1" i="0" u="none" dirty="0">
              <a:solidFill>
                <a:srgbClr val="2C4A68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3602D-4CE9-302B-5E67-F6FFAFE31198}"/>
              </a:ext>
            </a:extLst>
          </p:cNvPr>
          <p:cNvSpPr txBox="1"/>
          <p:nvPr/>
        </p:nvSpPr>
        <p:spPr>
          <a:xfrm>
            <a:off x="8598534" y="3052431"/>
            <a:ext cx="3318217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52616B"/>
                </a:solidFill>
                <a:latin typeface="Arial"/>
              </a:rPr>
              <a:t>Price below MA20, MA50 after Q2 earnings which rattled the market on capex</a:t>
            </a:r>
            <a:endParaRPr sz="1350" b="0" i="0" u="none" dirty="0">
              <a:solidFill>
                <a:srgbClr val="52616B"/>
              </a:solidFill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99189-C5DC-291A-D684-3C3A72540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66" y="1558360"/>
            <a:ext cx="7772400" cy="455816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646A5C-A276-F1DA-6F95-B08AF69D1CB7}"/>
              </a:ext>
            </a:extLst>
          </p:cNvPr>
          <p:cNvSpPr/>
          <p:nvPr/>
        </p:nvSpPr>
        <p:spPr>
          <a:xfrm>
            <a:off x="5649237" y="3277659"/>
            <a:ext cx="2041743" cy="9185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DC341C-C33A-2EB6-7421-49C0F5582192}"/>
              </a:ext>
            </a:extLst>
          </p:cNvPr>
          <p:cNvSpPr/>
          <p:nvPr/>
        </p:nvSpPr>
        <p:spPr>
          <a:xfrm>
            <a:off x="8417489" y="3593142"/>
            <a:ext cx="3603320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31EC10-9DDC-D70F-5FDF-34CB9A1A881D}"/>
              </a:ext>
            </a:extLst>
          </p:cNvPr>
          <p:cNvSpPr txBox="1"/>
          <p:nvPr/>
        </p:nvSpPr>
        <p:spPr>
          <a:xfrm>
            <a:off x="8598534" y="3752232"/>
            <a:ext cx="331821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Sep pullback working through long term resistance</a:t>
            </a:r>
            <a:endParaRPr sz="1650" b="1" i="0" u="none" dirty="0">
              <a:solidFill>
                <a:srgbClr val="2C4A68"/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11F16-CE91-1775-BDB3-96773D5D2034}"/>
              </a:ext>
            </a:extLst>
          </p:cNvPr>
          <p:cNvSpPr txBox="1"/>
          <p:nvPr/>
        </p:nvSpPr>
        <p:spPr>
          <a:xfrm>
            <a:off x="8598534" y="4269453"/>
            <a:ext cx="161582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52616B"/>
                </a:solidFill>
                <a:latin typeface="Arial"/>
              </a:rPr>
              <a:t>MA100 crosses price</a:t>
            </a:r>
            <a:br>
              <a:rPr lang="en-US" sz="1350" b="0" i="0" u="none" dirty="0">
                <a:solidFill>
                  <a:srgbClr val="52616B"/>
                </a:solidFill>
                <a:latin typeface="Arial"/>
              </a:rPr>
            </a:br>
            <a:endParaRPr sz="1350" b="0" i="0" u="none" dirty="0">
              <a:solidFill>
                <a:srgbClr val="52616B"/>
              </a:solidFill>
              <a:latin typeface="Arial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C727200-0D81-BEB4-C4A3-1A0674A114BE}"/>
              </a:ext>
            </a:extLst>
          </p:cNvPr>
          <p:cNvSpPr/>
          <p:nvPr/>
        </p:nvSpPr>
        <p:spPr>
          <a:xfrm>
            <a:off x="2732761" y="2671449"/>
            <a:ext cx="2415436" cy="1524769"/>
          </a:xfrm>
          <a:prstGeom prst="roundRect">
            <a:avLst>
              <a:gd name="adj" fmla="val 9273"/>
            </a:avLst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87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417489" y="2564010"/>
            <a:ext cx="3603320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126477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A6572"/>
                </a:solidFill>
                <a:latin typeface="Arial"/>
              </a:rPr>
              <a:t>ANALYSIS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5</a:t>
            </a:r>
            <a:r>
              <a:rPr sz="975" b="1" i="0" u="none" dirty="0">
                <a:solidFill>
                  <a:srgbClr val="4A6572"/>
                </a:solidFill>
                <a:latin typeface="Arial"/>
              </a:rPr>
              <a:t> ·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PRICE </a:t>
            </a:r>
            <a:endParaRPr sz="975" b="1" i="0" u="none" dirty="0">
              <a:solidFill>
                <a:srgbClr val="4A6572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7277633" cy="2949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i="0" u="none" dirty="0">
                <a:solidFill>
                  <a:srgbClr val="1E293B"/>
                </a:solidFill>
                <a:latin typeface="Arial"/>
              </a:rPr>
              <a:t>Example 3: Deeper pullback (GOOG) – zoom to past 360 days</a:t>
            </a:r>
            <a:endParaRPr sz="1950" b="1" i="0" u="none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15869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265437"/>
                </a:solidFill>
                <a:latin typeface="Arial"/>
              </a:rPr>
              <a:t>.. </a:t>
            </a:r>
            <a:endParaRPr sz="1500" b="1" i="0" u="none" dirty="0">
              <a:solidFill>
                <a:srgbClr val="265437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7E950-AE16-37F5-C5C0-0B4F6215D102}"/>
              </a:ext>
            </a:extLst>
          </p:cNvPr>
          <p:cNvSpPr txBox="1"/>
          <p:nvPr/>
        </p:nvSpPr>
        <p:spPr>
          <a:xfrm>
            <a:off x="8598535" y="2785731"/>
            <a:ext cx="305269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GOOG still on long-term upward trend</a:t>
            </a:r>
            <a:endParaRPr sz="1650" b="1" i="0" u="none" dirty="0">
              <a:solidFill>
                <a:srgbClr val="2C4A68"/>
              </a:solidFill>
              <a:latin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DC341C-C33A-2EB6-7421-49C0F5582192}"/>
              </a:ext>
            </a:extLst>
          </p:cNvPr>
          <p:cNvSpPr/>
          <p:nvPr/>
        </p:nvSpPr>
        <p:spPr>
          <a:xfrm>
            <a:off x="8417489" y="3593142"/>
            <a:ext cx="3603320" cy="1244329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31EC10-9DDC-D70F-5FDF-34CB9A1A881D}"/>
              </a:ext>
            </a:extLst>
          </p:cNvPr>
          <p:cNvSpPr txBox="1"/>
          <p:nvPr/>
        </p:nvSpPr>
        <p:spPr>
          <a:xfrm>
            <a:off x="8555110" y="3599817"/>
            <a:ext cx="3318217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Pullback since</a:t>
            </a:r>
          </a:p>
          <a:p>
            <a:pPr algn="l"/>
            <a:r>
              <a:rPr lang="en-US" sz="1650" b="1" dirty="0">
                <a:solidFill>
                  <a:srgbClr val="2C4A68"/>
                </a:solidFill>
                <a:latin typeface="Arial"/>
              </a:rPr>
              <a:t>May (Price slipped below MA20)</a:t>
            </a:r>
          </a:p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Jun (MA50)</a:t>
            </a:r>
          </a:p>
          <a:p>
            <a:pPr algn="l"/>
            <a:r>
              <a:rPr lang="en-US" sz="1650" b="1" dirty="0">
                <a:solidFill>
                  <a:srgbClr val="2C4A68"/>
                </a:solidFill>
                <a:latin typeface="Arial"/>
              </a:rPr>
              <a:t>Aug (MA100)</a:t>
            </a:r>
            <a:endParaRPr sz="1650" b="1" i="0" u="none" dirty="0">
              <a:solidFill>
                <a:srgbClr val="2C4A68"/>
              </a:solidFill>
              <a:latin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31A3411-912E-824C-729D-3732835D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1" y="1583958"/>
            <a:ext cx="8183234" cy="4844377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737EB0F5-5961-81D2-792D-0B40791B7A63}"/>
              </a:ext>
            </a:extLst>
          </p:cNvPr>
          <p:cNvSpPr/>
          <p:nvPr/>
        </p:nvSpPr>
        <p:spPr>
          <a:xfrm>
            <a:off x="5358652" y="2830603"/>
            <a:ext cx="95143" cy="82345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AFF6E80-7142-E738-93BF-AB9A422A3F76}"/>
              </a:ext>
            </a:extLst>
          </p:cNvPr>
          <p:cNvSpPr/>
          <p:nvPr/>
        </p:nvSpPr>
        <p:spPr>
          <a:xfrm>
            <a:off x="5800168" y="3043514"/>
            <a:ext cx="95143" cy="82345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0CB1CE-D8DF-0455-BE18-23B60D952F68}"/>
              </a:ext>
            </a:extLst>
          </p:cNvPr>
          <p:cNvSpPr/>
          <p:nvPr/>
        </p:nvSpPr>
        <p:spPr>
          <a:xfrm>
            <a:off x="6967820" y="3182466"/>
            <a:ext cx="95143" cy="82345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806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417489" y="2564010"/>
            <a:ext cx="3603320" cy="923925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7489" y="3602235"/>
            <a:ext cx="3603320" cy="958155"/>
          </a:xfrm>
          <a:prstGeom prst="roundRect">
            <a:avLst>
              <a:gd name="adj" fmla="val 5964"/>
            </a:avLst>
          </a:prstGeom>
          <a:solidFill>
            <a:srgbClr val="F3F7F4"/>
          </a:solidFill>
          <a:ln w="9525">
            <a:solidFill>
              <a:srgbClr val="D7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126477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A6572"/>
                </a:solidFill>
                <a:latin typeface="Arial"/>
              </a:rPr>
              <a:t>ANALYSIS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5</a:t>
            </a:r>
            <a:r>
              <a:rPr sz="975" b="1" i="0" u="none" dirty="0">
                <a:solidFill>
                  <a:srgbClr val="4A6572"/>
                </a:solidFill>
                <a:latin typeface="Arial"/>
              </a:rPr>
              <a:t> · </a:t>
            </a:r>
            <a:r>
              <a:rPr lang="en-US" sz="975" b="1" i="0" u="none" dirty="0">
                <a:solidFill>
                  <a:srgbClr val="4A6572"/>
                </a:solidFill>
                <a:latin typeface="Arial"/>
              </a:rPr>
              <a:t>PRICE </a:t>
            </a:r>
            <a:endParaRPr sz="975" b="1" i="0" u="none" dirty="0">
              <a:solidFill>
                <a:srgbClr val="4A6572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61975"/>
            <a:ext cx="5665012" cy="2949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i="0" u="none" dirty="0">
                <a:solidFill>
                  <a:srgbClr val="1E293B"/>
                </a:solidFill>
                <a:latin typeface="Arial"/>
              </a:rPr>
              <a:t>Example 4: Stock on structural downward trend</a:t>
            </a:r>
            <a:endParaRPr sz="1950" b="1" i="0" u="none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916185"/>
            <a:ext cx="15869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265437"/>
                </a:solidFill>
                <a:latin typeface="Arial"/>
              </a:rPr>
              <a:t>.. </a:t>
            </a:r>
            <a:endParaRPr sz="1500" b="1" i="0" u="none" dirty="0">
              <a:solidFill>
                <a:srgbClr val="265437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8535" y="3745110"/>
            <a:ext cx="331821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u="none" dirty="0">
                <a:solidFill>
                  <a:srgbClr val="2C543B"/>
                </a:solidFill>
                <a:latin typeface="Arial"/>
              </a:rPr>
              <a:t>.</a:t>
            </a:r>
            <a:endParaRPr sz="1200" b="1" i="0" u="none" dirty="0">
              <a:solidFill>
                <a:srgbClr val="2C543B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8534" y="3954660"/>
            <a:ext cx="3226035" cy="443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 dirty="0">
                <a:solidFill>
                  <a:srgbClr val="365342"/>
                </a:solidFill>
                <a:latin typeface="Arial"/>
              </a:rPr>
              <a:t>Signals structural headwinds or fundamental business challenges</a:t>
            </a:r>
            <a:endParaRPr sz="1350" b="0" i="0" u="none" dirty="0">
              <a:solidFill>
                <a:srgbClr val="365342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7E950-AE16-37F5-C5C0-0B4F6215D102}"/>
              </a:ext>
            </a:extLst>
          </p:cNvPr>
          <p:cNvSpPr txBox="1"/>
          <p:nvPr/>
        </p:nvSpPr>
        <p:spPr>
          <a:xfrm>
            <a:off x="8598534" y="2785731"/>
            <a:ext cx="249427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2C4A68"/>
                </a:solidFill>
                <a:latin typeface="Arial"/>
              </a:rPr>
              <a:t>Price below all major MA</a:t>
            </a:r>
            <a:endParaRPr sz="1650" b="1" i="0" u="none" dirty="0">
              <a:solidFill>
                <a:srgbClr val="2C4A68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3602D-4CE9-302B-5E67-F6FFAFE31198}"/>
              </a:ext>
            </a:extLst>
          </p:cNvPr>
          <p:cNvSpPr txBox="1"/>
          <p:nvPr/>
        </p:nvSpPr>
        <p:spPr>
          <a:xfrm>
            <a:off x="8598534" y="3052431"/>
            <a:ext cx="243816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52616B"/>
                </a:solidFill>
                <a:latin typeface="Arial"/>
              </a:rPr>
              <a:t>Price &lt; MA20 &lt; MA50 &lt; MA100</a:t>
            </a:r>
            <a:endParaRPr sz="1350" b="0" i="0" u="none" dirty="0">
              <a:solidFill>
                <a:srgbClr val="52616B"/>
              </a:solidFill>
              <a:latin typeface="Arial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646A5C-A276-F1DA-6F95-B08AF69D1CB7}"/>
              </a:ext>
            </a:extLst>
          </p:cNvPr>
          <p:cNvSpPr/>
          <p:nvPr/>
        </p:nvSpPr>
        <p:spPr>
          <a:xfrm>
            <a:off x="6400800" y="2679352"/>
            <a:ext cx="1077238" cy="4744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5FCED8-C0E0-E3D9-5AB7-50DF5BF78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29" y="1466027"/>
            <a:ext cx="7772400" cy="455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37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4645669"/>
            <a:ext cx="105918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2757041"/>
            <a:ext cx="3378249" cy="1507628"/>
          </a:xfrm>
          <a:prstGeom prst="roundRect">
            <a:avLst>
              <a:gd name="adj" fmla="val 5054"/>
            </a:avLst>
          </a:prstGeom>
          <a:solidFill>
            <a:srgbClr val="26303D"/>
          </a:solidFill>
          <a:ln w="9525">
            <a:solidFill>
              <a:srgbClr val="36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6949" y="2757041"/>
            <a:ext cx="3378249" cy="1507628"/>
          </a:xfrm>
          <a:prstGeom prst="roundRect">
            <a:avLst>
              <a:gd name="adj" fmla="val 5054"/>
            </a:avLst>
          </a:prstGeom>
          <a:solidFill>
            <a:srgbClr val="26303D"/>
          </a:solidFill>
          <a:ln w="9525">
            <a:solidFill>
              <a:srgbClr val="36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13799" y="2757041"/>
            <a:ext cx="3378249" cy="1507628"/>
          </a:xfrm>
          <a:prstGeom prst="roundRect">
            <a:avLst>
              <a:gd name="adj" fmla="val 5054"/>
            </a:avLst>
          </a:prstGeom>
          <a:solidFill>
            <a:srgbClr val="26303D"/>
          </a:solidFill>
          <a:ln w="9525">
            <a:solidFill>
              <a:srgbClr val="364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0100" y="4645669"/>
            <a:ext cx="10591800" cy="9525"/>
          </a:xfrm>
          <a:prstGeom prst="rect">
            <a:avLst/>
          </a:prstGeom>
          <a:solidFill>
            <a:srgbClr val="323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" y="1774180"/>
            <a:ext cx="11391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B4D1"/>
                </a:solidFill>
                <a:latin typeface="Arial"/>
              </a:rP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40880"/>
            <a:ext cx="113919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8FAFC"/>
                </a:solidFill>
                <a:latin typeface="Arial"/>
              </a:rPr>
              <a:t>Summary of Engineering &amp; Business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898082"/>
            <a:ext cx="41649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Arial"/>
              </a:rPr>
              <a:t>Data Science Module · S&amp;P 500 Project · Team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3951" y="4883794"/>
            <a:ext cx="23974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3B4D1"/>
                </a:solidFill>
                <a:latin typeface="Arial"/>
              </a:rPr>
              <a:t>Thank You &amp;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2995166"/>
            <a:ext cx="380887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B6CDDF"/>
                </a:solidFill>
                <a:latin typeface="Arial"/>
              </a:rPr>
              <a:t>1. Pipeline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280916"/>
            <a:ext cx="2997249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CBD5E1"/>
                </a:solidFill>
                <a:latin typeface="Arial"/>
              </a:rPr>
              <a:t>Multi-layer validation resolved upstream financial anomalies and ensured clean cloud data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2995166"/>
            <a:ext cx="380887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B6CDDF"/>
                </a:solidFill>
                <a:latin typeface="Arial"/>
              </a:rPr>
              <a:t>2. Risk-Return Dynamic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074" y="3280916"/>
            <a:ext cx="2997249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CBD5E1"/>
                </a:solidFill>
                <a:latin typeface="Arial"/>
              </a:rPr>
              <a:t>Sector returns must be assessed with volatility; tech delivered top returns with 2.3×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924" y="2995166"/>
            <a:ext cx="380887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B6CDDF"/>
                </a:solidFill>
                <a:latin typeface="Arial"/>
              </a:rPr>
              <a:t>3. Alpha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1924" y="3280916"/>
            <a:ext cx="2997249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CBD5E1"/>
                </a:solidFill>
                <a:latin typeface="Arial"/>
              </a:rPr>
              <a:t>NVDA demonstrated sustained risk-adjusted alpha (Sharpe &gt; 1.3), outpacing peers across cycles.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peline">
  <a:themeElements>
    <a:clrScheme name="Pipeline">
      <a:dk1>
        <a:srgbClr val="1B2A33"/>
      </a:dk1>
      <a:lt1>
        <a:srgbClr val="FFFFFF"/>
      </a:lt1>
      <a:dk2>
        <a:srgbClr val="0B3C49"/>
      </a:dk2>
      <a:lt2>
        <a:srgbClr val="EEF5F6"/>
      </a:lt2>
      <a:accent1>
        <a:srgbClr val="028090"/>
      </a:accent1>
      <a:accent2>
        <a:srgbClr val="02C39A"/>
      </a:accent2>
      <a:accent3>
        <a:srgbClr val="E4572E"/>
      </a:accent3>
      <a:accent4>
        <a:srgbClr val="F2A541"/>
      </a:accent4>
      <a:accent5>
        <a:srgbClr val="5B7083"/>
      </a:accent5>
      <a:accent6>
        <a:srgbClr val="A8DADC"/>
      </a:accent6>
      <a:hlink>
        <a:srgbClr val="028090"/>
      </a:hlink>
      <a:folHlink>
        <a:srgbClr val="5B7083"/>
      </a:folHlink>
    </a:clrScheme>
    <a:fontScheme name="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3544</Words>
  <Application>Microsoft Office PowerPoint</Application>
  <PresentationFormat>Widescreen</PresentationFormat>
  <Paragraphs>462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Cambria</vt:lpstr>
      <vt:lpstr>Office Theme</vt:lpstr>
      <vt:lpstr>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suhana ahmat</cp:lastModifiedBy>
  <cp:revision>18</cp:revision>
  <dcterms:created xsi:type="dcterms:W3CDTF">2013-01-27T09:14:16Z</dcterms:created>
  <dcterms:modified xsi:type="dcterms:W3CDTF">2026-10-16T04:00:26Z</dcterms:modified>
  <cp:category/>
</cp:coreProperties>
</file>