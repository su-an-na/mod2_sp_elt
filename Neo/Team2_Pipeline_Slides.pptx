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peline" id="{3ce9fafc-808a-52da-4109-c5e75c40388e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Closes that differ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7 Oct</c:v>
                  </c:pt>
                  <c:pt idx="1">
                    <c:v>8 Oct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part is making the pipeline run by itself, and stop itself when the data is wrong. I built on our Team 2 download notebook: it already produces all 41 columns in one run. I added retries for Yahoo rate limits, and it now saves Parquet, one file per year: 31 MB instead of 183 MB. Dagster runs it every morning at 6:30 Singapore time, after the US close. Download, then GX gate 0 checks the files, and only if that passes it loads into BigQuery, partitioned by month and clustered by ticker. First run this morning: 622,757 rows, 503 stocks, up to 14 October, in 22 minutes. It writes only to my own project, so it never touches the team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team's tables I run four more gates: the raw load, the schema contract, our team's 14 quality dimensions, and a final check before analysis. They have already paid off. The gates confirmed Waters' market cap was fixed between v1 and v2: 228 rows above 10 trillion dollars went to zero. And on v2, gate 3 stopped the pipeline: 20 rows on 8 October had an opening price outside the day's high-low range, which is impossible. I compared with my own download: on 7 October all 503 closes match exactly; on 8 October 500 of 503 differ. So 8 October was downloaded while the US market was still trading. Only 20 rows looked wrong, but nearly all 503 were wrong. So our analysis ends on 7 October. Next steps: incremental loads, and Docker plus Google Cloud so it runs without my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Module 2 · S&amp;P 500 pipeline · Team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</a:rPr>
              <a:t>Module 2 · S&amp;P 500 pipeline · Team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scheduled pipeline that stops itself when data is wrong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7083"/>
                </a:solidFill>
              </a:rPr>
              <a:t>Tue–Sat at 6:30 am SGT, after each US trading day – no manual steps</a:t>
            </a:r>
            <a:endParaRPr lang="en-US" sz="1500" dirty="0"/>
          </a:p>
        </p:txBody>
      </p:sp>
      <p:sp>
        <p:nvSpPr>
          <p:cNvPr id="4" name="step-0"/>
          <p:cNvSpPr/>
          <p:nvPr/>
        </p:nvSpPr>
        <p:spPr>
          <a:xfrm>
            <a:off x="457200" y="14630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EEF5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Download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Team 2 notebook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Wikipedia + Yahoo + SEC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41 columns, retries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22576" y="2171700"/>
            <a:ext cx="228600" cy="0"/>
          </a:xfrm>
          <a:prstGeom prst="line">
            <a:avLst/>
          </a:prstGeom>
          <a:noFill/>
          <a:ln w="25400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0" name="step-1"/>
          <p:cNvSpPr/>
          <p:nvPr/>
        </p:nvSpPr>
        <p:spPr>
          <a:xfrm>
            <a:off x="2587752" y="14630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EEF5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4912" y="160020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2491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82112" y="1600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Parquet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24912" y="205740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One file per year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31 MB vs 183 MB CSV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53128" y="2171700"/>
            <a:ext cx="228600" cy="0"/>
          </a:xfrm>
          <a:prstGeom prst="line">
            <a:avLst/>
          </a:prstGeom>
          <a:noFill/>
          <a:ln w="25400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6" name="step-2"/>
          <p:cNvSpPr/>
          <p:nvPr/>
        </p:nvSpPr>
        <p:spPr>
          <a:xfrm>
            <a:off x="4718304" y="14630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EEF5F6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55464" y="160020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55464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12664" y="1600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GX gate 0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55464" y="205740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Rows, tickers, duplicates,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impossible prices, freshness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171700"/>
            <a:ext cx="228600" cy="0"/>
          </a:xfrm>
          <a:prstGeom prst="line">
            <a:avLst/>
          </a:prstGeom>
          <a:noFill/>
          <a:ln w="25400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22" name="step-3"/>
          <p:cNvSpPr/>
          <p:nvPr/>
        </p:nvSpPr>
        <p:spPr>
          <a:xfrm>
            <a:off x="6848856" y="14630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EEF5F6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6016" y="160020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8601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1600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BigQuery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86016" y="205740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My own project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Partitioned by month,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clustered by ticker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572E"/>
                </a:solidFill>
              </a:rPr>
              <a:t>Fails → retry once after 5 min → still failing: nothing is loaded, yesterday’s table stays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622,757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</a:rPr>
              <a:t>rows loaded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587752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503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2587752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</a:rPr>
              <a:t>S&amp;P 500 stocks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718304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Oct</a:t>
            </a:r>
            <a:endParaRPr lang="en-US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4718304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</a:rPr>
              <a:t>last complete day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48856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min</a:t>
            </a:r>
            <a:endParaRPr lang="en-US" sz="3400" dirty="0"/>
          </a:p>
        </p:txBody>
      </p:sp>
      <p:sp>
        <p:nvSpPr>
          <p:cNvPr id="35" name="Text 33"/>
          <p:cNvSpPr txBox="1"/>
          <p:nvPr/>
        </p:nvSpPr>
        <p:spPr>
          <a:xfrm>
            <a:off x="6848856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</a:rPr>
              <a:t>end to end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</a:rPr>
              <a:t>First run, 15 Oct 2026 · Dagster job own_v2_extract_and_load · download notebook by Team 2</a:t>
            </a:r>
            <a:endParaRPr lang="en-US" sz="1000" dirty="0"/>
          </a:p>
        </p:txBody>
      </p:sp>
      <p:sp>
        <p:nvSpPr>
          <p:cNvPr id="38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quality gates – gate 3 caught a partial trading day</a:t>
            </a:r>
            <a:endParaRPr lang="en-US" sz="2400" dirty="0"/>
          </a:p>
        </p:txBody>
      </p:sp>
      <p:sp>
        <p:nvSpPr>
          <p:cNvPr id="3" name="gate-0"/>
          <p:cNvSpPr/>
          <p:nvPr/>
        </p:nvSpPr>
        <p:spPr>
          <a:xfrm>
            <a:off x="457200" y="1005840"/>
            <a:ext cx="1517904" cy="868680"/>
          </a:xfrm>
          <a:prstGeom prst="roundRect">
            <a:avLst>
              <a:gd name="adj" fmla="val 10526"/>
            </a:avLst>
          </a:prstGeom>
          <a:solidFill>
            <a:srgbClr val="EE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0789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Gate 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4416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Download files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8191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Before load</a:t>
            </a:r>
            <a:endParaRPr lang="en-US" sz="1100" dirty="0"/>
          </a:p>
        </p:txBody>
      </p:sp>
      <p:sp>
        <p:nvSpPr>
          <p:cNvPr id="7" name="gate-1"/>
          <p:cNvSpPr/>
          <p:nvPr/>
        </p:nvSpPr>
        <p:spPr>
          <a:xfrm>
            <a:off x="2130552" y="1005840"/>
            <a:ext cx="1517904" cy="868680"/>
          </a:xfrm>
          <a:prstGeom prst="roundRect">
            <a:avLst>
              <a:gd name="adj" fmla="val 10526"/>
            </a:avLst>
          </a:prstGeom>
          <a:solidFill>
            <a:srgbClr val="EE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0789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Gate 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34416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Raw table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58191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Meltano load</a:t>
            </a:r>
            <a:endParaRPr lang="en-US" sz="1100" dirty="0"/>
          </a:p>
        </p:txBody>
      </p:sp>
      <p:sp>
        <p:nvSpPr>
          <p:cNvPr id="11" name="gate-2"/>
          <p:cNvSpPr/>
          <p:nvPr/>
        </p:nvSpPr>
        <p:spPr>
          <a:xfrm>
            <a:off x="3803904" y="1005840"/>
            <a:ext cx="1517904" cy="868680"/>
          </a:xfrm>
          <a:prstGeom prst="roundRect">
            <a:avLst>
              <a:gd name="adj" fmla="val 10526"/>
            </a:avLst>
          </a:prstGeom>
          <a:solidFill>
            <a:srgbClr val="EE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13632" y="10789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Gate 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13632" y="134416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Schema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158191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4 + 41 columns</a:t>
            </a:r>
            <a:endParaRPr lang="en-US" sz="1100" dirty="0"/>
          </a:p>
        </p:txBody>
      </p:sp>
      <p:sp>
        <p:nvSpPr>
          <p:cNvPr id="15" name="gate-3"/>
          <p:cNvSpPr/>
          <p:nvPr/>
        </p:nvSpPr>
        <p:spPr>
          <a:xfrm>
            <a:off x="5477256" y="1005840"/>
            <a:ext cx="1517904" cy="868680"/>
          </a:xfrm>
          <a:prstGeom prst="roundRect">
            <a:avLst>
              <a:gd name="adj" fmla="val 10526"/>
            </a:avLst>
          </a:prstGeom>
          <a:solidFill>
            <a:srgbClr val="FDE8E3"/>
          </a:solidFill>
          <a:ln w="3175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86984" y="10789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</a:rPr>
              <a:t>Gate 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86984" y="134416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14 dimensions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586984" y="158191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Team 2 rules</a:t>
            </a:r>
            <a:endParaRPr lang="en-US" sz="1100" dirty="0"/>
          </a:p>
        </p:txBody>
      </p:sp>
      <p:sp>
        <p:nvSpPr>
          <p:cNvPr id="19" name="gate-4"/>
          <p:cNvSpPr/>
          <p:nvPr/>
        </p:nvSpPr>
        <p:spPr>
          <a:xfrm>
            <a:off x="7150608" y="1005840"/>
            <a:ext cx="1517904" cy="868680"/>
          </a:xfrm>
          <a:prstGeom prst="roundRect">
            <a:avLst>
              <a:gd name="adj" fmla="val 10526"/>
            </a:avLst>
          </a:prstGeom>
          <a:solidFill>
            <a:srgbClr val="EE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0336" y="10789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Gate 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60336" y="134416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Marts + views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158191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Before analysis</a:t>
            </a:r>
            <a:endParaRPr lang="en-US" sz="1100" dirty="0"/>
          </a:p>
        </p:txBody>
      </p:sp>
      <p:sp>
        <p:nvSpPr>
          <p:cNvPr id="23" name="finding-card"/>
          <p:cNvSpPr/>
          <p:nvPr/>
        </p:nvSpPr>
        <p:spPr>
          <a:xfrm>
            <a:off x="457200" y="214884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3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8 Oct was downloaded while the US market was still trading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2560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3"/>
                </a:solidFill>
              </a:rPr>
              <a:t>Closes that differ from my own (final) download</a:t>
            </a:r>
            <a:endParaRPr lang="en-US" sz="12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48640" y="2788920"/>
          <a:ext cx="493776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5852160" y="21488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impossible prices flagged by gate 3 – open outside the day’s high–low</a:t>
            </a:r>
            <a:endParaRPr lang="en-US" sz="3400" dirty="0"/>
          </a:p>
        </p:txBody>
      </p:sp>
      <p:sp>
        <p:nvSpPr>
          <p:cNvPr id="28" name="Text 25"/>
          <p:cNvSpPr txBox="1"/>
          <p:nvPr/>
        </p:nvSpPr>
        <p:spPr>
          <a:xfrm>
            <a:off x="585216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228 → 0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</a:rPr>
              <a:t>Waters market caps above $10 tn, v1 → v2</a:t>
            </a:r>
            <a:endParaRPr lang="en-US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5852160" y="39319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</a:rPr>
              <a:t>Action: analysis ends 7 Oct; evidence committed to the repo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</a:rPr>
              <a:t>Next: incremental loads · Docker + Google Cloud · project ID in .env</a:t>
            </a:r>
            <a:endParaRPr lang="en-US" sz="1000" dirty="0"/>
          </a:p>
        </p:txBody>
      </p:sp>
      <p:sp>
        <p:nvSpPr>
          <p:cNvPr id="3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peline">
  <a:themeElements>
    <a:clrScheme name="Pipeline">
      <a:dk1>
        <a:srgbClr val="1B2A33"/>
      </a:dk1>
      <a:lt1>
        <a:srgbClr val="FFFFFF"/>
      </a:lt1>
      <a:dk2>
        <a:srgbClr val="0B3C49"/>
      </a:dk2>
      <a:lt2>
        <a:srgbClr val="EEF5F6"/>
      </a:lt2>
      <a:accent1>
        <a:srgbClr val="028090"/>
      </a:accent1>
      <a:accent2>
        <a:srgbClr val="02C39A"/>
      </a:accent2>
      <a:accent3>
        <a:srgbClr val="E4572E"/>
      </a:accent3>
      <a:accent4>
        <a:srgbClr val="F2A541"/>
      </a:accent4>
      <a:accent5>
        <a:srgbClr val="5B7083"/>
      </a:accent5>
      <a:accent6>
        <a:srgbClr val="A8DADC"/>
      </a:accent6>
      <a:hlink>
        <a:srgbClr val="028090"/>
      </a:hlink>
      <a:folHlink>
        <a:srgbClr val="5B7083"/>
      </a:folHlink>
    </a:clrScheme>
    <a:fontScheme name="Pipe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2026-10-15T06:49:18Z</dcterms:created>
  <dcterms:modified xsi:type="dcterms:W3CDTF">2026-10-15T06:49:18Z</dcterms:modified>
</cp:coreProperties>
</file>